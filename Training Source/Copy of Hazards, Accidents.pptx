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image/gif" Extension="gif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oleObject" PartName="/ppt/embeddings/oleObject3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735750" cy="98663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rURlfTnVz21zWCdwFa34WiP1q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C559A-CE81-43EA-B489-E902B6620DDC}">
  <a:tblStyle styleId="{253C559A-CE81-43EA-B489-E902B6620D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D8E9CF9-3466-4620-9FF0-BF36B5212C7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DEEE8"/>
          </a:solidFill>
        </a:fill>
      </a:tcStyle>
    </a:wholeTbl>
    <a:band1H>
      <a:tcTxStyle/>
      <a:tcStyle>
        <a:fill>
          <a:solidFill>
            <a:srgbClr val="FCDCCE"/>
          </a:solidFill>
        </a:fill>
      </a:tcStyle>
    </a:band1H>
    <a:band2H>
      <a:tcTxStyle/>
    </a:band2H>
    <a:band1V>
      <a:tcTxStyle/>
      <a:tcStyle>
        <a:fill>
          <a:solidFill>
            <a:srgbClr val="FCDCCE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196B55A1-0CF7-466B-814A-D5BC2872EA03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5373" y="0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901700" y="739775"/>
            <a:ext cx="4932363" cy="37004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0.jp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google.co.in/url?sa=i&amp;rct=j&amp;q=&amp;esrc=s&amp;source=images&amp;cd=&amp;cad=rja&amp;uact=8&amp;ved=0CAcQjRxqFQoTCOCcwM25lMgCFYiOjgodKZcOJg&amp;url=http://www.occideas.org/?_escaped_fragment_%3Dassessment/cipy&amp;psig=AFQjCNGxT8zz0qmZmiHu8-eYz5QG7budBw&amp;ust=1443348310331798" TargetMode="External"/><Relationship Id="rId4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371600" y="1123950"/>
            <a:ext cx="5943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WELCOME TO DTVS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>
            <a:off x="0" y="66675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0" y="203835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1" name="Google Shape;91;p1"/>
          <p:cNvGraphicFramePr/>
          <p:nvPr/>
        </p:nvGraphicFramePr>
        <p:xfrm>
          <a:off x="5676900" y="2625605"/>
          <a:ext cx="3276600" cy="3505200"/>
        </p:xfrm>
        <a:graphic>
          <a:graphicData uri="http://schemas.openxmlformats.org/presentationml/2006/ole">
            <mc:AlternateContent>
              <mc:Choice Requires="v">
                <p:oleObj r:id="rId4" imgH="3505200" imgW="3276600" progId="" spid="_x0000_s1">
                  <p:embed/>
                </p:oleObj>
              </mc:Choice>
              <mc:Fallback>
                <p:oleObj r:id="rId5" imgH="3505200" imgW="3276600" progId="">
                  <p:embed/>
                  <p:pic>
                    <p:nvPicPr>
                      <p:cNvPr id="91" name="Google Shape;91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676900" y="2625605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"/>
          <p:cNvSpPr txBox="1"/>
          <p:nvPr/>
        </p:nvSpPr>
        <p:spPr>
          <a:xfrm>
            <a:off x="304800" y="2137210"/>
            <a:ext cx="617220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 of this training is to educate all about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INDUSTRIAL HAZARDS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ACCIDENTS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UNSAFE ACTS &amp; UNSAFE CONDITIONS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/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YOUR ROLE IN ACCIDENT PREVENTION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INCIDENTS CASE STUDY</a:t>
            </a:r>
            <a:endParaRPr/>
          </a:p>
        </p:txBody>
      </p:sp>
      <p:cxnSp>
        <p:nvCxnSpPr>
          <p:cNvPr id="93" name="Google Shape;93;p1"/>
          <p:cNvCxnSpPr/>
          <p:nvPr/>
        </p:nvCxnSpPr>
        <p:spPr>
          <a:xfrm>
            <a:off x="28575" y="6248400"/>
            <a:ext cx="9144000" cy="1588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Google Shape;98;p2"/>
          <p:cNvGraphicFramePr/>
          <p:nvPr/>
        </p:nvGraphicFramePr>
        <p:xfrm>
          <a:off x="1447800" y="2438400"/>
          <a:ext cx="6108700" cy="3352800"/>
        </p:xfrm>
        <a:graphic>
          <a:graphicData uri="http://schemas.openxmlformats.org/presentationml/2006/ole">
            <mc:AlternateContent>
              <mc:Choice Requires="v">
                <p:oleObj r:id="rId4" imgH="3352800" imgW="6108700" progId="" spid="_x0000_s1">
                  <p:embed/>
                </p:oleObj>
              </mc:Choice>
              <mc:Fallback>
                <p:oleObj r:id="rId5" imgH="3352800" imgW="6108700" progId="">
                  <p:embed/>
                  <p:pic>
                    <p:nvPicPr>
                      <p:cNvPr id="98" name="Google Shape;98;p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47800" y="2438400"/>
                        <a:ext cx="610870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" name="Google Shape;99;p2"/>
          <p:cNvSpPr txBox="1"/>
          <p:nvPr/>
        </p:nvSpPr>
        <p:spPr>
          <a:xfrm>
            <a:off x="1295400" y="914400"/>
            <a:ext cx="6858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HAZARD ?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762000" y="1905000"/>
            <a:ext cx="7010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ANYTHING THAT CAN HARM US IS A HAZARD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228600" y="6096000"/>
            <a:ext cx="8610600" cy="523220"/>
          </a:xfrm>
          <a:prstGeom prst="rect">
            <a:avLst/>
          </a:prstGeom>
          <a:solidFill>
            <a:srgbClr val="00B0F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</a:t>
            </a: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HAZARDS IN EVERY TRADE THAT IS WHY SAFETY RULES ARE MADE.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09600"/>
            <a:ext cx="2824162" cy="229590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7720" y="609600"/>
            <a:ext cx="2889607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685800"/>
            <a:ext cx="2305050" cy="218122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10" name="Google Shape;110;p3"/>
          <p:cNvSpPr txBox="1"/>
          <p:nvPr/>
        </p:nvSpPr>
        <p:spPr>
          <a:xfrm>
            <a:off x="990600" y="2971800"/>
            <a:ext cx="1371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CHEMICALS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3962400" y="2971800"/>
            <a:ext cx="198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 &amp; EXPLOSION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7162800" y="2971800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TOXIC GASES</a:t>
            </a:r>
            <a:endParaRPr/>
          </a:p>
        </p:txBody>
      </p:sp>
      <p:pic>
        <p:nvPicPr>
          <p:cNvPr id="113" name="Google Shape;11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191000"/>
            <a:ext cx="2743200" cy="222154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5200" y="4191000"/>
            <a:ext cx="2819400" cy="225410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63260" y="4191000"/>
            <a:ext cx="25908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6477000" y="6488668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 HANDLING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4343400" y="6488668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MACHINERY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066800" y="6488668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ELECTRICITY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143000" y="3352800"/>
            <a:ext cx="6629400" cy="584775"/>
          </a:xfrm>
          <a:prstGeom prst="rect">
            <a:avLst/>
          </a:prstGeom>
          <a:solidFill>
            <a:srgbClr val="FFFF0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INDUSTRIAL HAZARDS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BF8E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609600" y="620305"/>
            <a:ext cx="82296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CATAGORIES OF HAZARDS</a:t>
            </a:r>
            <a:endParaRPr/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371600"/>
            <a:ext cx="5428722" cy="4724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4"/>
          <p:cNvSpPr txBox="1"/>
          <p:nvPr/>
        </p:nvSpPr>
        <p:spPr>
          <a:xfrm>
            <a:off x="571500" y="6216352"/>
            <a:ext cx="8305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HAZARD EXISTS EVERYWHERE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5"/>
          <p:cNvGraphicFramePr/>
          <p:nvPr/>
        </p:nvGraphicFramePr>
        <p:xfrm>
          <a:off x="244840" y="1676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{253C559A-CE81-43EA-B489-E902B6620DDC}</a:tableStyleId>
              </a:tblPr>
              <a:tblGrid>
                <a:gridCol w="4250950"/>
                <a:gridCol w="4435850"/>
              </a:tblGrid>
              <a:tr h="48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HAZARDS AT HOME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INDUSTRIAL HAZARDS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b="1" lang="en-US" sz="1800" u="sng"/>
                        <a:t>Fire Hazard Low 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We will have 1 0r 2 LPG cylinders.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Handled</a:t>
                      </a:r>
                      <a:r>
                        <a:rPr lang="en-US" sz="1800"/>
                        <a:t> by </a:t>
                      </a:r>
                      <a:r>
                        <a:rPr lang="en-US" sz="1800"/>
                        <a:t> all in the family.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Will affect the home only.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AutoNum type="arabicPeriod"/>
                      </a:pPr>
                      <a:r>
                        <a:rPr b="1" lang="en-US" sz="1800" u="sng"/>
                        <a:t>High Fire Hazard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lang="en-US" sz="1800" u="none"/>
                        <a:t>Large</a:t>
                      </a:r>
                      <a:r>
                        <a:rPr b="0" lang="en-US" sz="1800" u="none"/>
                        <a:t> quantities of burning materials.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lang="en-US" sz="1800" u="none"/>
                        <a:t>Handled by experienced and trained.</a:t>
                      </a:r>
                      <a:endParaRPr/>
                    </a:p>
                    <a:p>
                      <a:pPr indent="-342900" lvl="0" marL="3429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lang="en-US" sz="1800" u="none"/>
                        <a:t>Will affect the areas outside also. </a:t>
                      </a:r>
                      <a:endParaRPr b="0" sz="1800" u="non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    Electricity</a:t>
                      </a:r>
                      <a:r>
                        <a:rPr lang="en-US" sz="1800"/>
                        <a:t> is low voltage (220V AC 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   Electricity will be to the tune of( 11KV)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    Machines are less hazardous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   Machines are dangerous.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8850">
                <a:tc>
                  <a:txBody>
                    <a:bodyPr/>
                    <a:lstStyle/>
                    <a:p>
                      <a:pPr indent="-404813" lvl="0" marL="404813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    Material handling is simple and manual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 Material handling is more dangerous.</a:t>
                      </a:r>
                      <a:endParaRPr/>
                    </a:p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Heavy  Machinery are involved in handling.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    No Gas cylinders</a:t>
                      </a:r>
                      <a:r>
                        <a:rPr lang="en-US" sz="1800"/>
                        <a:t> of toxic nature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 Toxic gases like ammonia may be used.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5"/>
          <p:cNvSpPr txBox="1"/>
          <p:nvPr/>
        </p:nvSpPr>
        <p:spPr>
          <a:xfrm>
            <a:off x="1981200" y="381000"/>
            <a:ext cx="4648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HAZARDS A COMPARISON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304800" y="6096000"/>
            <a:ext cx="8458200" cy="461665"/>
          </a:xfrm>
          <a:prstGeom prst="rect">
            <a:avLst/>
          </a:prstGeom>
          <a:solidFill>
            <a:srgbClr val="00B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Hazards cannot be eliminated they can only be controlled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304800" y="990600"/>
            <a:ext cx="8610600" cy="400110"/>
          </a:xfrm>
          <a:prstGeom prst="rect">
            <a:avLst/>
          </a:prstGeom>
          <a:solidFill>
            <a:srgbClr val="00B0F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Hazards may be same but their harm varies with their Magnitude &amp; Type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371600"/>
            <a:ext cx="8481734" cy="4584388"/>
          </a:xfrm>
          <a:prstGeom prst="rect">
            <a:avLst/>
          </a:prstGeom>
          <a:noFill/>
          <a:ln cap="sq" cmpd="sng" w="228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40" name="Google Shape;140;p6"/>
          <p:cNvSpPr txBox="1"/>
          <p:nvPr/>
        </p:nvSpPr>
        <p:spPr>
          <a:xfrm>
            <a:off x="2819400" y="6335664"/>
            <a:ext cx="4245911" cy="276999"/>
          </a:xfrm>
          <a:prstGeom prst="rect">
            <a:avLst/>
          </a:prstGeom>
          <a:noFill/>
          <a:ln>
            <a:noFill/>
          </a:ln>
        </p:spPr>
        <p:txBody>
          <a:bodyPr anchorCtr="1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There are 8 hidden hazards in the picture below )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1676400" y="540603"/>
            <a:ext cx="73387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SPOT THE HAZARDS IN THE PICTURE – (Exercise -01)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8" y="1476265"/>
            <a:ext cx="8352303" cy="4491949"/>
          </a:xfrm>
          <a:prstGeom prst="rect">
            <a:avLst/>
          </a:prstGeom>
          <a:noFill/>
          <a:ln cap="sq" cmpd="sng" w="2286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47" name="Google Shape;147;p7"/>
          <p:cNvSpPr txBox="1"/>
          <p:nvPr/>
        </p:nvSpPr>
        <p:spPr>
          <a:xfrm>
            <a:off x="2916889" y="6446382"/>
            <a:ext cx="4245911" cy="276999"/>
          </a:xfrm>
          <a:prstGeom prst="rect">
            <a:avLst/>
          </a:prstGeom>
          <a:noFill/>
          <a:ln>
            <a:noFill/>
          </a:ln>
        </p:spPr>
        <p:txBody>
          <a:bodyPr anchorCtr="1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 There are 8 hidden hazards in the picture below )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295400" y="616667"/>
            <a:ext cx="6858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SPOT THE HAZARDS IN THE PICTURE – (Exercise - 02)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static.wixstatic.com/media/2ba4c3_149ebd9fd222c192d4d7b1dd4f8c9a7b.jpg_srz_p_455_375_75_22_0.50_1.20_0.00_jpg_srz" id="153" name="Google Shape;153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431" y="1178719"/>
            <a:ext cx="8380812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/>
        </p:nvSpPr>
        <p:spPr>
          <a:xfrm>
            <a:off x="2743200" y="1862488"/>
            <a:ext cx="1219200" cy="646331"/>
          </a:xfrm>
          <a:prstGeom prst="rect">
            <a:avLst/>
          </a:prstGeom>
          <a:solidFill>
            <a:srgbClr val="FDE9D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962400" y="1601408"/>
            <a:ext cx="1219200" cy="923330"/>
          </a:xfrm>
          <a:prstGeom prst="rect">
            <a:avLst/>
          </a:prstGeom>
          <a:solidFill>
            <a:srgbClr val="E36C09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181600" y="1040528"/>
            <a:ext cx="1219200" cy="1477328"/>
          </a:xfrm>
          <a:prstGeom prst="rect">
            <a:avLst/>
          </a:prstGeom>
          <a:solidFill>
            <a:srgbClr val="FABF8E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6400800" y="764458"/>
            <a:ext cx="1219200" cy="1754326"/>
          </a:xfrm>
          <a:prstGeom prst="rect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524000" y="2138558"/>
            <a:ext cx="1219200" cy="369332"/>
          </a:xfrm>
          <a:prstGeom prst="rect">
            <a:avLst/>
          </a:prstGeom>
          <a:solidFill>
            <a:srgbClr val="FFFF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 MISS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1676400" y="304800"/>
            <a:ext cx="6172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INDUSTRIAL ACCIDENTS AS PER FACTORIES ACT </a:t>
            </a:r>
            <a:endParaRPr/>
          </a:p>
        </p:txBody>
      </p:sp>
      <p:graphicFrame>
        <p:nvGraphicFramePr>
          <p:cNvPr id="164" name="Google Shape;164;p9"/>
          <p:cNvGraphicFramePr/>
          <p:nvPr/>
        </p:nvGraphicFramePr>
        <p:xfrm>
          <a:off x="609600" y="30692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{BD8E9CF9-3466-4620-9FF0-BF36B5212C72}</a:tableStyleId>
              </a:tblPr>
              <a:tblGrid>
                <a:gridCol w="1811225"/>
                <a:gridCol w="6037375"/>
              </a:tblGrid>
              <a:tr h="410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1. Near Miss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 Possibility</a:t>
                      </a:r>
                      <a:r>
                        <a:rPr lang="en-US" sz="1800"/>
                        <a:t> of human injury but </a:t>
                      </a:r>
                      <a:r>
                        <a:rPr lang="en-US" sz="1800"/>
                        <a:t>No Human injury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    ( Ex: Fan or any component falling to ground)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2. Incident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 Return to work within few hour of the accident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    ( Requires rest and no treatment is required 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3. Minor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 Return</a:t>
                      </a:r>
                      <a:r>
                        <a:rPr lang="en-US" sz="1800"/>
                        <a:t> to work within 48 hours of the accident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   ( A small cut injury which requires a bandage</a:t>
                      </a:r>
                      <a:r>
                        <a:rPr lang="en-US" sz="1800"/>
                        <a:t> &amp; rest 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4. Major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 Return to work within 21 days of the accident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    ( Fracture or deep</a:t>
                      </a:r>
                      <a:r>
                        <a:rPr lang="en-US" sz="1800"/>
                        <a:t> cut injury which requires a surgery 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5. Fatal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  Death or Permanent Disablement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9"/>
          <p:cNvSpPr txBox="1"/>
          <p:nvPr/>
        </p:nvSpPr>
        <p:spPr>
          <a:xfrm>
            <a:off x="579620" y="2590800"/>
            <a:ext cx="7924800" cy="369332"/>
          </a:xfrm>
          <a:prstGeom prst="rect">
            <a:avLst/>
          </a:prstGeom>
          <a:solidFill>
            <a:srgbClr val="FFC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ACCIDENTS CAN HAPPEN TO ANY TYPE OF EMPLOYEE, EVEN TO  THE EXPERIENCED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609600" y="888128"/>
            <a:ext cx="2743200" cy="369332"/>
          </a:xfrm>
          <a:prstGeom prst="rect">
            <a:avLst/>
          </a:prstGeom>
          <a:solidFill>
            <a:srgbClr val="EAF1DD"/>
          </a:solidFill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Our Aim : Zero Accident</a:t>
            </a:r>
            <a:endParaRPr/>
          </a:p>
        </p:txBody>
      </p:sp>
      <p:graphicFrame>
        <p:nvGraphicFramePr>
          <p:cNvPr id="167" name="Google Shape;167;p9"/>
          <p:cNvGraphicFramePr/>
          <p:nvPr/>
        </p:nvGraphicFramePr>
        <p:xfrm>
          <a:off x="5486400" y="1295400"/>
          <a:ext cx="2070100" cy="1281113"/>
        </p:xfrm>
        <a:graphic>
          <a:graphicData uri="http://schemas.openxmlformats.org/presentationml/2006/ole">
            <mc:AlternateContent>
              <mc:Choice Requires="v">
                <p:oleObj r:id="rId4" imgH="1281113" imgW="2070100" progId="" spid="_x0000_s1">
                  <p:embed/>
                </p:oleObj>
              </mc:Choice>
              <mc:Fallback>
                <p:oleObj r:id="rId5" imgH="1281113" imgW="2070100" progId="">
                  <p:embed/>
                  <p:pic>
                    <p:nvPicPr>
                      <p:cNvPr id="167" name="Google Shape;167;p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86400" y="1295400"/>
                        <a:ext cx="207010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0"/>
          <p:cNvGrpSpPr/>
          <p:nvPr/>
        </p:nvGrpSpPr>
        <p:grpSpPr>
          <a:xfrm>
            <a:off x="1295400" y="1905000"/>
            <a:ext cx="6832589" cy="4064000"/>
            <a:chOff x="0" y="0"/>
            <a:chExt cx="6832589" cy="4064000"/>
          </a:xfrm>
        </p:grpSpPr>
        <p:sp>
          <p:nvSpPr>
            <p:cNvPr id="173" name="Google Shape;173;p10"/>
            <p:cNvSpPr/>
            <p:nvPr/>
          </p:nvSpPr>
          <p:spPr>
            <a:xfrm>
              <a:off x="0" y="0"/>
              <a:ext cx="4064000" cy="4064000"/>
            </a:xfrm>
            <a:prstGeom prst="triangle">
              <a:avLst>
                <a:gd fmla="val 50000" name="adj"/>
              </a:avLst>
            </a:prstGeom>
            <a:solidFill>
              <a:srgbClr val="D99593"/>
            </a:solidFill>
            <a:ln cap="flat" cmpd="sng" w="571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0"/>
            <p:cNvSpPr/>
            <p:nvPr/>
          </p:nvSpPr>
          <p:spPr>
            <a:xfrm>
              <a:off x="4114806" y="304799"/>
              <a:ext cx="2641600" cy="722312"/>
            </a:xfrm>
            <a:prstGeom prst="roundRect">
              <a:avLst>
                <a:gd fmla="val 16667" name="adj"/>
              </a:avLst>
            </a:prstGeom>
            <a:solidFill>
              <a:srgbClr val="FF0000">
                <a:alpha val="89803"/>
              </a:srgb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0"/>
            <p:cNvSpPr txBox="1"/>
            <p:nvPr/>
          </p:nvSpPr>
          <p:spPr>
            <a:xfrm>
              <a:off x="4150066" y="340059"/>
              <a:ext cx="2571080" cy="65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Major  / Fatal</a:t>
              </a:r>
              <a:endParaRPr/>
            </a:p>
          </p:txBody>
        </p:sp>
        <p:sp>
          <p:nvSpPr>
            <p:cNvPr id="176" name="Google Shape;176;p10"/>
            <p:cNvSpPr/>
            <p:nvPr/>
          </p:nvSpPr>
          <p:spPr>
            <a:xfrm>
              <a:off x="4114806" y="1447800"/>
              <a:ext cx="2641600" cy="722312"/>
            </a:xfrm>
            <a:prstGeom prst="roundRect">
              <a:avLst>
                <a:gd fmla="val 16667" name="adj"/>
              </a:avLst>
            </a:prstGeom>
            <a:solidFill>
              <a:srgbClr val="E36C09">
                <a:alpha val="89803"/>
              </a:srgb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0"/>
            <p:cNvSpPr txBox="1"/>
            <p:nvPr/>
          </p:nvSpPr>
          <p:spPr>
            <a:xfrm>
              <a:off x="4150066" y="1483060"/>
              <a:ext cx="2571080" cy="65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Minor</a:t>
              </a:r>
              <a:endParaRPr/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4190989" y="2362197"/>
              <a:ext cx="2641600" cy="722312"/>
            </a:xfrm>
            <a:prstGeom prst="roundRect">
              <a:avLst>
                <a:gd fmla="val 16667" name="adj"/>
              </a:avLst>
            </a:prstGeom>
            <a:solidFill>
              <a:srgbClr val="FABF8E">
                <a:alpha val="89803"/>
              </a:srgb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0"/>
            <p:cNvSpPr txBox="1"/>
            <p:nvPr/>
          </p:nvSpPr>
          <p:spPr>
            <a:xfrm>
              <a:off x="4226249" y="2397457"/>
              <a:ext cx="2571080" cy="65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Incident</a:t>
              </a:r>
              <a:endParaRPr/>
            </a:p>
          </p:txBody>
        </p:sp>
        <p:sp>
          <p:nvSpPr>
            <p:cNvPr id="180" name="Google Shape;180;p10"/>
            <p:cNvSpPr/>
            <p:nvPr/>
          </p:nvSpPr>
          <p:spPr>
            <a:xfrm>
              <a:off x="4190989" y="3276602"/>
              <a:ext cx="2641600" cy="722312"/>
            </a:xfrm>
            <a:prstGeom prst="roundRect">
              <a:avLst>
                <a:gd fmla="val 16667" name="adj"/>
              </a:avLst>
            </a:prstGeom>
            <a:solidFill>
              <a:srgbClr val="FFFF00">
                <a:alpha val="89803"/>
              </a:srgb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4226249" y="3311862"/>
              <a:ext cx="2571080" cy="6517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r>
                <a:rPr lang="en-US" sz="3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Near Miss</a:t>
              </a:r>
              <a:endParaRPr/>
            </a:p>
          </p:txBody>
        </p:sp>
      </p:grpSp>
      <p:cxnSp>
        <p:nvCxnSpPr>
          <p:cNvPr id="182" name="Google Shape;182;p10"/>
          <p:cNvCxnSpPr/>
          <p:nvPr/>
        </p:nvCxnSpPr>
        <p:spPr>
          <a:xfrm>
            <a:off x="2590800" y="3429000"/>
            <a:ext cx="1524000" cy="15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10"/>
          <p:cNvCxnSpPr/>
          <p:nvPr/>
        </p:nvCxnSpPr>
        <p:spPr>
          <a:xfrm>
            <a:off x="2095500" y="4267200"/>
            <a:ext cx="2438400" cy="15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10"/>
          <p:cNvCxnSpPr/>
          <p:nvPr/>
        </p:nvCxnSpPr>
        <p:spPr>
          <a:xfrm>
            <a:off x="1752600" y="5105400"/>
            <a:ext cx="3200400" cy="15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 txBox="1"/>
          <p:nvPr/>
        </p:nvSpPr>
        <p:spPr>
          <a:xfrm>
            <a:off x="3200400" y="2514600"/>
            <a:ext cx="304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2743200" y="52578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2999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2895600" y="3505200"/>
            <a:ext cx="76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2743200" y="4343400"/>
            <a:ext cx="1143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299</a:t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600200" y="533400"/>
            <a:ext cx="6019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HENRICH THEORY OF ACCIDENT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381000" y="1066800"/>
            <a:ext cx="8382000" cy="707886"/>
          </a:xfrm>
          <a:prstGeom prst="rect">
            <a:avLst/>
          </a:prstGeom>
          <a:solidFill>
            <a:srgbClr val="00206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THEORY IS APPLICABLE TO ALL TYPE OF INDUSTRIES BUT NUMBERS INDICATED MAY VARY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304800" y="6248400"/>
            <a:ext cx="84582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ACCIDENTS AT THE EARLIER STAGE AND PREVENT MOVING UPWARDS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 txBox="1"/>
          <p:nvPr/>
        </p:nvSpPr>
        <p:spPr>
          <a:xfrm>
            <a:off x="1371600" y="304800"/>
            <a:ext cx="6324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Accidents happen ?</a:t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3476625" y="989950"/>
            <a:ext cx="1905000" cy="369332"/>
          </a:xfrm>
          <a:prstGeom prst="rect">
            <a:avLst/>
          </a:prstGeom>
          <a:solidFill>
            <a:srgbClr val="FDE9D8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</a:t>
            </a:r>
            <a:endParaRPr/>
          </a:p>
        </p:txBody>
      </p:sp>
      <p:sp>
        <p:nvSpPr>
          <p:cNvPr id="198" name="Google Shape;198;p11"/>
          <p:cNvSpPr txBox="1"/>
          <p:nvPr/>
        </p:nvSpPr>
        <p:spPr>
          <a:xfrm>
            <a:off x="885825" y="2304400"/>
            <a:ext cx="2362200" cy="369332"/>
          </a:xfrm>
          <a:prstGeom prst="rect">
            <a:avLst/>
          </a:prstGeom>
          <a:solidFill>
            <a:srgbClr val="C5D8F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UNSAFE CONDITION</a:t>
            </a:r>
            <a:endParaRPr/>
          </a:p>
        </p:txBody>
      </p:sp>
      <p:sp>
        <p:nvSpPr>
          <p:cNvPr id="199" name="Google Shape;199;p11"/>
          <p:cNvSpPr txBox="1"/>
          <p:nvPr/>
        </p:nvSpPr>
        <p:spPr>
          <a:xfrm>
            <a:off x="5638800" y="2361550"/>
            <a:ext cx="2362200" cy="369332"/>
          </a:xfrm>
          <a:prstGeom prst="rect">
            <a:avLst/>
          </a:prstGeom>
          <a:solidFill>
            <a:srgbClr val="C5D8F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UNSAFE ACT</a:t>
            </a:r>
            <a:endParaRPr/>
          </a:p>
        </p:txBody>
      </p:sp>
      <p:cxnSp>
        <p:nvCxnSpPr>
          <p:cNvPr id="200" name="Google Shape;200;p11"/>
          <p:cNvCxnSpPr/>
          <p:nvPr/>
        </p:nvCxnSpPr>
        <p:spPr>
          <a:xfrm>
            <a:off x="2057400" y="1904350"/>
            <a:ext cx="480060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1"/>
          <p:cNvCxnSpPr/>
          <p:nvPr/>
        </p:nvCxnSpPr>
        <p:spPr>
          <a:xfrm rot="5400000">
            <a:off x="1866900" y="2094850"/>
            <a:ext cx="38100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11"/>
          <p:cNvCxnSpPr/>
          <p:nvPr/>
        </p:nvCxnSpPr>
        <p:spPr>
          <a:xfrm rot="5400000">
            <a:off x="6629400" y="2132950"/>
            <a:ext cx="45720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3" name="Google Shape;203;p11"/>
          <p:cNvCxnSpPr/>
          <p:nvPr/>
        </p:nvCxnSpPr>
        <p:spPr>
          <a:xfrm rot="5400000">
            <a:off x="4153694" y="1637650"/>
            <a:ext cx="532606" cy="79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 txBox="1"/>
          <p:nvPr/>
        </p:nvSpPr>
        <p:spPr>
          <a:xfrm>
            <a:off x="838200" y="2971150"/>
            <a:ext cx="2438400" cy="369332"/>
          </a:xfrm>
          <a:prstGeom prst="rect">
            <a:avLst/>
          </a:prstGeom>
          <a:solidFill>
            <a:srgbClr val="B2A0C7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OF SITAUTION</a:t>
            </a:r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5638800" y="2971150"/>
            <a:ext cx="2438400" cy="369332"/>
          </a:xfrm>
          <a:prstGeom prst="rect">
            <a:avLst/>
          </a:prstGeom>
          <a:solidFill>
            <a:srgbClr val="B2A0C7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ERROR</a:t>
            </a:r>
            <a:endParaRPr/>
          </a:p>
        </p:txBody>
      </p:sp>
      <p:sp>
        <p:nvSpPr>
          <p:cNvPr id="206" name="Google Shape;206;p11"/>
          <p:cNvSpPr txBox="1"/>
          <p:nvPr/>
        </p:nvSpPr>
        <p:spPr>
          <a:xfrm>
            <a:off x="4962525" y="3733150"/>
            <a:ext cx="4029075" cy="2031325"/>
          </a:xfrm>
          <a:prstGeom prst="rect">
            <a:avLst/>
          </a:prstGeom>
          <a:solidFill>
            <a:srgbClr val="00B0F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Not following Safety rules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Not following operating procedures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Operating un authorized Machines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Bye passing safety systems 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Not using proper Protective Gear (PPE)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Disturbing others while working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Playing in the working areas.</a:t>
            </a:r>
            <a:endParaRPr/>
          </a:p>
        </p:txBody>
      </p:sp>
      <p:cxnSp>
        <p:nvCxnSpPr>
          <p:cNvPr id="207" name="Google Shape;207;p11"/>
          <p:cNvCxnSpPr>
            <a:stCxn id="205" idx="2"/>
          </p:cNvCxnSpPr>
          <p:nvPr/>
        </p:nvCxnSpPr>
        <p:spPr>
          <a:xfrm flipH="1">
            <a:off x="6856500" y="3340482"/>
            <a:ext cx="1500" cy="39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11"/>
          <p:cNvCxnSpPr/>
          <p:nvPr/>
        </p:nvCxnSpPr>
        <p:spPr>
          <a:xfrm rot="-5400000">
            <a:off x="6734175" y="2837800"/>
            <a:ext cx="22860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1"/>
          <p:cNvCxnSpPr/>
          <p:nvPr/>
        </p:nvCxnSpPr>
        <p:spPr>
          <a:xfrm rot="5400000">
            <a:off x="1861860" y="3547690"/>
            <a:ext cx="392668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1"/>
          <p:cNvCxnSpPr/>
          <p:nvPr/>
        </p:nvCxnSpPr>
        <p:spPr>
          <a:xfrm rot="-5400000">
            <a:off x="1934369" y="2820099"/>
            <a:ext cx="228600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1"/>
          <p:cNvSpPr txBox="1"/>
          <p:nvPr/>
        </p:nvSpPr>
        <p:spPr>
          <a:xfrm>
            <a:off x="238125" y="3733150"/>
            <a:ext cx="3800475" cy="2031325"/>
          </a:xfrm>
          <a:prstGeom prst="rect">
            <a:avLst/>
          </a:prstGeom>
          <a:solidFill>
            <a:srgbClr val="00B0F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Un guarded Machines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Wet &amp; Slippery floor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High Noise areas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Poor lighting  &amp; Poor Ventilation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No proper Protective Gear (PPE)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Poor house keeping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Damaged electrical cables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1447800" y="6172200"/>
            <a:ext cx="6172200" cy="36933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type of Accident can be Prevented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152401" y="467706"/>
            <a:ext cx="8881238" cy="6248400"/>
          </a:xfrm>
          <a:prstGeom prst="rect">
            <a:avLst/>
          </a:prstGeom>
          <a:solidFill>
            <a:srgbClr val="CCFFFF"/>
          </a:solidFill>
          <a:ln cap="flat" cmpd="sng" w="76200">
            <a:solidFill>
              <a:srgbClr val="99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12"/>
          <p:cNvGraphicFramePr/>
          <p:nvPr/>
        </p:nvGraphicFramePr>
        <p:xfrm>
          <a:off x="328442" y="1177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{196B55A1-0CF7-466B-814A-D5BC2872EA03}</a:tableStyleId>
              </a:tblPr>
              <a:tblGrid>
                <a:gridCol w="1500350"/>
                <a:gridCol w="3352800"/>
                <a:gridCol w="3731175"/>
              </a:tblGrid>
              <a:tr h="90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lt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AFFECTED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lt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DIRECT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 What you can see 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900"/>
                        <a:buFont typeface="Noto Sans Symbols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INDIRECT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 What you cannot see )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  <a:tr h="11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EMPLOYEE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Pain of injury.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Medical Expenses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Loss of Earning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Fear of recovery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Fear of Punishment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Fear of Job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  <a:tr h="998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EMPLOYEE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SOCIETY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Interruption in their regular work.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Expenses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Son going to work after discontinuing studies.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House wife going for work.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  <a:tr h="11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EMPLOYER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Medical expenses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Replacement of men &amp; repair of Machinery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Idle wages to employee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  Company reputation affected.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 startAt="2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Business interruption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-3556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  <a:tr h="110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EMPLOYER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SOCIETY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Production cost Increase.</a:t>
                      </a:r>
                      <a:endParaRPr/>
                    </a:p>
                    <a:p>
                      <a:pPr indent="-457200" lvl="0" marL="4572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AutoNum type="arabicPeriod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Business of our Supplier / Contractor affected</a:t>
                      </a:r>
                      <a:endParaRPr/>
                    </a:p>
                    <a:p>
                      <a:pPr indent="-241300" lvl="0" marL="342900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  Customer's business affected.</a:t>
                      </a:r>
                      <a:endParaRPr/>
                    </a:p>
                    <a:p>
                      <a:pPr indent="-346075" lvl="0" marL="346075" marR="0" rtl="0" algn="l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  Higher price for products borne by the consumers .</a:t>
                      </a:r>
                      <a:endParaRPr/>
                    </a:p>
                  </a:txBody>
                  <a:tcPr marT="45725" marB="45725" marR="91450" marL="9145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8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12"/>
          <p:cNvSpPr txBox="1"/>
          <p:nvPr/>
        </p:nvSpPr>
        <p:spPr>
          <a:xfrm>
            <a:off x="2667000" y="454570"/>
            <a:ext cx="4987551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     Loss of Accidents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 txBox="1"/>
          <p:nvPr/>
        </p:nvSpPr>
        <p:spPr>
          <a:xfrm>
            <a:off x="2286000" y="609600"/>
            <a:ext cx="4953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AN ACCIDENT</a:t>
            </a:r>
            <a:endParaRPr/>
          </a:p>
        </p:txBody>
      </p:sp>
      <p:grpSp>
        <p:nvGrpSpPr>
          <p:cNvPr id="225" name="Google Shape;225;p13"/>
          <p:cNvGrpSpPr/>
          <p:nvPr/>
        </p:nvGrpSpPr>
        <p:grpSpPr>
          <a:xfrm>
            <a:off x="232417" y="1397000"/>
            <a:ext cx="8679165" cy="4064000"/>
            <a:chOff x="3817" y="0"/>
            <a:chExt cx="8679165" cy="4064000"/>
          </a:xfrm>
        </p:grpSpPr>
        <p:sp>
          <p:nvSpPr>
            <p:cNvPr id="226" name="Google Shape;226;p13"/>
            <p:cNvSpPr/>
            <p:nvPr/>
          </p:nvSpPr>
          <p:spPr>
            <a:xfrm>
              <a:off x="651509" y="0"/>
              <a:ext cx="7383780" cy="4064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3817" y="1219199"/>
              <a:ext cx="1669070" cy="162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 txBox="1"/>
            <p:nvPr/>
          </p:nvSpPr>
          <p:spPr>
            <a:xfrm>
              <a:off x="83172" y="1298554"/>
              <a:ext cx="1510360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ACCIDENT REPORT</a:t>
              </a: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756341" y="1219199"/>
              <a:ext cx="1669070" cy="162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3"/>
            <p:cNvSpPr txBox="1"/>
            <p:nvPr/>
          </p:nvSpPr>
          <p:spPr>
            <a:xfrm>
              <a:off x="1835696" y="1298554"/>
              <a:ext cx="1510360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ACCIDENT ANALYSIS  FOR ROOT CAUSE</a:t>
              </a: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508864" y="1219199"/>
              <a:ext cx="1669070" cy="162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 txBox="1"/>
            <p:nvPr/>
          </p:nvSpPr>
          <p:spPr>
            <a:xfrm>
              <a:off x="3588219" y="1298554"/>
              <a:ext cx="1510360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REPORT TO GOVT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AUTHORITIES</a:t>
              </a: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5261388" y="1219199"/>
              <a:ext cx="1669070" cy="162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3"/>
            <p:cNvSpPr txBox="1"/>
            <p:nvPr/>
          </p:nvSpPr>
          <p:spPr>
            <a:xfrm>
              <a:off x="5340743" y="1298554"/>
              <a:ext cx="1510360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CAPA  / COMPLETE / HORIZONTAL DEPLOYMENT</a:t>
              </a: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7013912" y="1219199"/>
              <a:ext cx="1669070" cy="162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3"/>
            <p:cNvSpPr txBox="1"/>
            <p:nvPr/>
          </p:nvSpPr>
          <p:spPr>
            <a:xfrm>
              <a:off x="7093267" y="1298554"/>
              <a:ext cx="1510360" cy="1466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UPDATE RECORDS COMMUNICATE TO ALL </a:t>
              </a:r>
              <a:endParaRPr/>
            </a:p>
          </p:txBody>
        </p:sp>
      </p:grpSp>
      <p:sp>
        <p:nvSpPr>
          <p:cNvPr id="237" name="Google Shape;237;p13"/>
          <p:cNvSpPr txBox="1"/>
          <p:nvPr/>
        </p:nvSpPr>
        <p:spPr>
          <a:xfrm>
            <a:off x="114300" y="5505271"/>
            <a:ext cx="8915400" cy="1200329"/>
          </a:xfrm>
          <a:prstGeom prst="rect">
            <a:avLst/>
          </a:prstGeom>
          <a:solidFill>
            <a:srgbClr val="FFC00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&amp; RESPONSIBILITIES CLEARLY DEFINED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TARGETS FIX ED FOR EACH ACTION PLANNED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 FORMATS FOR CAPTURING DATA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RECORDS FOR FUTURE ANALYSIS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609600" y="4953000"/>
            <a:ext cx="2667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POINTS TO BE NOTED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685800" y="1600200"/>
            <a:ext cx="3810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FLOW OF ACTIONS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5524500" y="5505450"/>
            <a:ext cx="3505200" cy="1200329"/>
          </a:xfrm>
          <a:prstGeom prst="rect">
            <a:avLst/>
          </a:prstGeom>
          <a:solidFill>
            <a:srgbClr val="00B0F0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ACCIDENT PREVENTION IS EVERYBODIES RESPONSIBILITY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2013-09-18T11:39:02Z</dcterms:created>
  <dc:creator>dtvsf3967</dc:creator>
</cp:coreProperties>
</file>