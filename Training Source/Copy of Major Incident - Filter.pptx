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598" r:id="rId3"/>
    <p:sldId id="597" r:id="rId4"/>
    <p:sldId id="610" r:id="rId5"/>
    <p:sldId id="595" r:id="rId6"/>
    <p:sldId id="611" r:id="rId7"/>
    <p:sldId id="586" r:id="rId8"/>
    <p:sldId id="612" r:id="rId9"/>
    <p:sldId id="613" r:id="rId10"/>
    <p:sldId id="614" r:id="rId11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varaman S." initials="S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4" autoAdjust="0"/>
    <p:restoredTop sz="94660"/>
  </p:normalViewPr>
  <p:slideViewPr>
    <p:cSldViewPr showGuides="1">
      <p:cViewPr varScale="1">
        <p:scale>
          <a:sx n="69" d="100"/>
          <a:sy n="69" d="100"/>
        </p:scale>
        <p:origin x="15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A5E37-67F6-4F58-9EF0-A6AA9983E3D4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0ECC5-E738-4E8C-A262-6A0421E4D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0ECC5-E738-4E8C-A262-6A0421E4DDB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94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0ECC5-E738-4E8C-A262-6A0421E4DDB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41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0ECC5-E738-4E8C-A262-6A0421E4DDB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541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FA7E-59E3-417B-97EA-F546D63175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30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FA7E-59E3-417B-97EA-F546D63175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34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FFA7E-59E3-417B-97EA-F546D63175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380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F7E1B-C12C-4563-9215-6D58020DB2A1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4E75-F74C-4E43-967E-25EFD0045953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087D-94AF-4342-8B5D-87924E072B9F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A64-4B01-46A3-89E2-E493378FD397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2167-00BD-4CB7-A335-22A7DDD177DB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3C96C-285F-4F49-AA1A-865FEB38430B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63AC-E8A9-483B-AC9A-C71D52819B55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7B30-C95A-41BE-B595-A26C5B5C4613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D4E5-5EFF-4B25-8A03-948971A2DEEF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C5E-1FBB-4D37-8734-2DF43973A7C4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58D9E-B84E-4FD4-AE30-FB5FF08F6727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B64FD-2EB7-4AC8-BF7A-1709AABE5D6F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flipV="1">
            <a:off x="0" y="838200"/>
            <a:ext cx="9144000" cy="7620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76200"/>
            <a:ext cx="2590800" cy="7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02455" y="1447800"/>
            <a:ext cx="773909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REPORTABLE INCIDENT REPORT</a:t>
            </a:r>
          </a:p>
          <a:p>
            <a:pPr algn="ctr"/>
            <a:endParaRPr lang="en-US" sz="4400" b="1" dirty="0"/>
          </a:p>
          <a:p>
            <a:pPr algn="ctr"/>
            <a:endParaRPr lang="en-US" sz="4000" b="1" dirty="0"/>
          </a:p>
          <a:p>
            <a:pPr algn="ctr"/>
            <a:r>
              <a:rPr lang="en-US" sz="4400" b="1" dirty="0"/>
              <a:t>Delphi TVS Technologies Ltd,</a:t>
            </a:r>
          </a:p>
          <a:p>
            <a:pPr algn="ctr"/>
            <a:r>
              <a:rPr lang="en-US" sz="4400" b="1" dirty="0" err="1"/>
              <a:t>Oragadam</a:t>
            </a:r>
            <a:endParaRPr lang="en-US" sz="4400" b="1" dirty="0"/>
          </a:p>
          <a:p>
            <a:pPr algn="ctr"/>
            <a:endParaRPr lang="en-US" sz="4400" b="1" dirty="0"/>
          </a:p>
          <a:p>
            <a:endParaRPr lang="en-IN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7225" y="1219200"/>
            <a:ext cx="7894320" cy="38472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  <a:p>
            <a:r>
              <a:rPr lang="en-US" sz="2000" b="1" dirty="0"/>
              <a:t>Department        		: Filter Cell</a:t>
            </a:r>
          </a:p>
          <a:p>
            <a:endParaRPr lang="en-US" sz="2000" b="1" dirty="0"/>
          </a:p>
          <a:p>
            <a: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Process / Activity 	: Pleating machine -1</a:t>
            </a:r>
          </a:p>
          <a:p>
            <a:pPr>
              <a:lnSpc>
                <a:spcPct val="6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/>
          </a:p>
          <a:p>
            <a:r>
              <a:rPr lang="en-US" sz="2000" b="1" dirty="0"/>
              <a:t>Injured person       	: T Monish</a:t>
            </a:r>
            <a:endParaRPr lang="en-IN" sz="2000" b="1" dirty="0"/>
          </a:p>
          <a:p>
            <a:endParaRPr lang="en-US" sz="2000" b="1" dirty="0"/>
          </a:p>
          <a:p>
            <a:r>
              <a:rPr lang="en-US" sz="2000" b="1" dirty="0" err="1"/>
              <a:t>CC.No</a:t>
            </a:r>
            <a:r>
              <a:rPr lang="en-US" sz="2000" b="1" dirty="0"/>
              <a:t>                   		: TIT 1504</a:t>
            </a:r>
          </a:p>
          <a:p>
            <a:endParaRPr lang="en-US" sz="2000" b="1" dirty="0"/>
          </a:p>
          <a:p>
            <a:r>
              <a:rPr lang="en-US" sz="2000" b="1" dirty="0"/>
              <a:t>Date  &amp; Shift                 	: 29.07.2025 &amp; 2nd shift </a:t>
            </a:r>
          </a:p>
          <a:p>
            <a:endParaRPr lang="en-US" sz="2000" b="1" dirty="0"/>
          </a:p>
          <a:p>
            <a:r>
              <a:rPr lang="en-US" sz="2000" b="1" dirty="0"/>
              <a:t>Incident Time    		: 10.35 PM</a:t>
            </a:r>
          </a:p>
          <a:p>
            <a:endParaRPr lang="en-US" sz="2000"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57490"/>
            <a:ext cx="739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INCIDENT DETAILS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INCIDENT DESCRIPTION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990600"/>
            <a:ext cx="5715000" cy="586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running Pleating paper roll  emptied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Ø"/>
            </a:pPr>
            <a:r>
              <a:rPr lang="en-US" dirty="0"/>
              <a:t>Trainee loaded new pleating paper roll at the loading point &amp; started feeding to pleating machine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Ø"/>
            </a:pPr>
            <a:r>
              <a:rPr lang="en-US" dirty="0"/>
              <a:t>He found paper struck up (Pop up) inside the roller &amp; removed the paper manually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Ø"/>
            </a:pPr>
            <a:r>
              <a:rPr lang="en-US" dirty="0"/>
              <a:t>Then stopped the pleating roller unit and opened the safety door which was in bye passed condition.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Ø"/>
            </a:pPr>
            <a:r>
              <a:rPr lang="en-US" dirty="0"/>
              <a:t>Trainee tried to insert the paper roll at the pleating roller station manually by  switching on the unit simultaneously.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Ø"/>
            </a:pPr>
            <a:r>
              <a:rPr lang="en-US" dirty="0"/>
              <a:t>During the course of this activity, his left hand caught between the pleating rollers and got crush injury in his left index, middle and ring fingers.</a:t>
            </a:r>
          </a:p>
          <a:p>
            <a:pPr marL="342900" indent="-342900">
              <a:lnSpc>
                <a:spcPts val="2700"/>
              </a:lnSpc>
              <a:buFont typeface="Wingdings" panose="05000000000000000000" pitchFamily="2" charset="2"/>
              <a:buChar char="Ø"/>
            </a:pPr>
            <a:r>
              <a:rPr lang="en-US" dirty="0"/>
              <a:t>He pressed the emergency button immediately. Upon hearing his noise, the line supervisor and maintenance engineer rushed to the spot and removed the roller manually to free his hand .  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7EA9739-AE16-99AA-57DD-B4FD69E5A6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831" y="1503641"/>
            <a:ext cx="3118069" cy="2024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3C3FAC3-9944-3531-08D6-5969B9D1BA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831" y="3690611"/>
            <a:ext cx="2956144" cy="2217108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xmlns="" id="{32C16CB2-C7AE-8235-C66D-1F2536CF19BB}"/>
              </a:ext>
            </a:extLst>
          </p:cNvPr>
          <p:cNvSpPr/>
          <p:nvPr/>
        </p:nvSpPr>
        <p:spPr>
          <a:xfrm>
            <a:off x="6553200" y="1000779"/>
            <a:ext cx="1295400" cy="421571"/>
          </a:xfrm>
          <a:prstGeom prst="wedgeRectCallout">
            <a:avLst>
              <a:gd name="adj1" fmla="val 17061"/>
              <a:gd name="adj2" fmla="val 21781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Safety door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xmlns="" id="{56392BEE-02B8-A8B1-1A15-1C0643D8407F}"/>
              </a:ext>
            </a:extLst>
          </p:cNvPr>
          <p:cNvSpPr/>
          <p:nvPr/>
        </p:nvSpPr>
        <p:spPr>
          <a:xfrm>
            <a:off x="6019800" y="5898194"/>
            <a:ext cx="1066800" cy="647700"/>
          </a:xfrm>
          <a:prstGeom prst="wedgeRectCallout">
            <a:avLst>
              <a:gd name="adj1" fmla="val 30060"/>
              <a:gd name="adj2" fmla="val -1514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Pleating rollers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INCIDENT DESCRIPTION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990600"/>
            <a:ext cx="4495165" cy="5646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sz="2400" b="1" u="sng" dirty="0"/>
              <a:t>Observations:</a:t>
            </a:r>
          </a:p>
          <a:p>
            <a:pPr indent="0">
              <a:buFont typeface="Wingdings" panose="05000000000000000000" pitchFamily="2" charset="2"/>
              <a:buNone/>
            </a:pPr>
            <a:endParaRPr lang="en-US" sz="2400" b="1" u="sng" dirty="0"/>
          </a:p>
          <a:p>
            <a:pPr indent="0">
              <a:buFont typeface="Wingdings" panose="05000000000000000000" pitchFamily="2" charset="2"/>
              <a:buNone/>
            </a:pPr>
            <a:r>
              <a:rPr lang="en-US" sz="2000" dirty="0"/>
              <a:t>1) Pleating Roller safety door switch was found in bye passed condition  </a:t>
            </a:r>
          </a:p>
          <a:p>
            <a:pPr indent="0">
              <a:buFont typeface="Wingdings" panose="05000000000000000000" pitchFamily="2" charset="2"/>
              <a:buNone/>
            </a:pPr>
            <a:endParaRPr lang="en-US" sz="2000" dirty="0"/>
          </a:p>
          <a:p>
            <a:pPr indent="0">
              <a:buFont typeface="Wingdings" panose="05000000000000000000" pitchFamily="2" charset="2"/>
              <a:buNone/>
            </a:pPr>
            <a:r>
              <a:rPr lang="en-US" sz="2000" dirty="0"/>
              <a:t>2) The machine was operated in an unsafe condition; production continued despite the known failure of the safety system by all responsible personnel</a:t>
            </a:r>
          </a:p>
          <a:p>
            <a:pPr indent="0">
              <a:buFont typeface="Wingdings" panose="05000000000000000000" pitchFamily="2" charset="2"/>
              <a:buNone/>
            </a:pPr>
            <a:endParaRPr lang="en-US" sz="2000" dirty="0"/>
          </a:p>
          <a:p>
            <a:pPr indent="0">
              <a:buFont typeface="Wingdings" panose="05000000000000000000" pitchFamily="2" charset="2"/>
              <a:buNone/>
            </a:pPr>
            <a:r>
              <a:rPr lang="en-US" sz="2000" dirty="0"/>
              <a:t>3) Manual insertion of paper while machine was energized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18EE006-BF98-FC0E-8B93-DB0944818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05" t="16805" r="27079" b="19338"/>
          <a:stretch>
            <a:fillRect/>
          </a:stretch>
        </p:blipFill>
        <p:spPr>
          <a:xfrm>
            <a:off x="5105400" y="1214437"/>
            <a:ext cx="1143000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192BCD2-AFE9-DCB8-BC0E-2EE5F7199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844" y="3048000"/>
            <a:ext cx="3658111" cy="2800741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xmlns="" id="{CD524FB4-0184-0E48-10C2-E7F209149261}"/>
              </a:ext>
            </a:extLst>
          </p:cNvPr>
          <p:cNvSpPr/>
          <p:nvPr/>
        </p:nvSpPr>
        <p:spPr>
          <a:xfrm>
            <a:off x="5105400" y="1214437"/>
            <a:ext cx="1143000" cy="1447800"/>
          </a:xfrm>
          <a:prstGeom prst="wedgeRectCallout">
            <a:avLst>
              <a:gd name="adj1" fmla="val -34583"/>
              <a:gd name="adj2" fmla="val 87171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D262ED9-931D-E53A-00AE-2AFF07EE0045}"/>
              </a:ext>
            </a:extLst>
          </p:cNvPr>
          <p:cNvSpPr txBox="1"/>
          <p:nvPr/>
        </p:nvSpPr>
        <p:spPr>
          <a:xfrm>
            <a:off x="4762499" y="876717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Safety door switch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4799D1F-E676-D938-52DE-0BDE4E9A424E}"/>
              </a:ext>
            </a:extLst>
          </p:cNvPr>
          <p:cNvSpPr txBox="1"/>
          <p:nvPr/>
        </p:nvSpPr>
        <p:spPr>
          <a:xfrm>
            <a:off x="6773165" y="177224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Safety door switch is not connected with safety door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D0FAFBD-5C00-05D5-B112-76ED689856F9}"/>
              </a:ext>
            </a:extLst>
          </p:cNvPr>
          <p:cNvSpPr txBox="1"/>
          <p:nvPr/>
        </p:nvSpPr>
        <p:spPr>
          <a:xfrm>
            <a:off x="6029769" y="3589572"/>
            <a:ext cx="1371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Safety Door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5C3C39B2-235E-E285-E6B2-71B757C66BD5}"/>
              </a:ext>
            </a:extLst>
          </p:cNvPr>
          <p:cNvCxnSpPr/>
          <p:nvPr/>
        </p:nvCxnSpPr>
        <p:spPr>
          <a:xfrm flipV="1">
            <a:off x="5486400" y="3276600"/>
            <a:ext cx="1972565" cy="15240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512F18DD-BD98-244C-26FE-95C2FEB2339D}"/>
              </a:ext>
            </a:extLst>
          </p:cNvPr>
          <p:cNvCxnSpPr>
            <a:cxnSpLocks/>
          </p:cNvCxnSpPr>
          <p:nvPr/>
        </p:nvCxnSpPr>
        <p:spPr>
          <a:xfrm flipV="1">
            <a:off x="6028435" y="4050268"/>
            <a:ext cx="1972565" cy="369332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1ACA1CAE-9AE5-2189-EA29-9CB1CE52869F}"/>
              </a:ext>
            </a:extLst>
          </p:cNvPr>
          <p:cNvCxnSpPr>
            <a:cxnSpLocks/>
          </p:cNvCxnSpPr>
          <p:nvPr/>
        </p:nvCxnSpPr>
        <p:spPr>
          <a:xfrm>
            <a:off x="5486399" y="3429000"/>
            <a:ext cx="542036" cy="101937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0B3AADDB-5C6C-6299-0BFA-3DB989D5B48D}"/>
              </a:ext>
            </a:extLst>
          </p:cNvPr>
          <p:cNvCxnSpPr>
            <a:cxnSpLocks/>
          </p:cNvCxnSpPr>
          <p:nvPr/>
        </p:nvCxnSpPr>
        <p:spPr>
          <a:xfrm>
            <a:off x="7412485" y="3267075"/>
            <a:ext cx="542036" cy="783193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D75B8CE7-BE68-1A6B-616E-3FDA3048CEBC}"/>
              </a:ext>
            </a:extLst>
          </p:cNvPr>
          <p:cNvCxnSpPr>
            <a:cxnSpLocks/>
          </p:cNvCxnSpPr>
          <p:nvPr/>
        </p:nvCxnSpPr>
        <p:spPr>
          <a:xfrm flipV="1">
            <a:off x="5943600" y="4495800"/>
            <a:ext cx="37844" cy="1123755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AF1F4360-9F25-120B-C821-C3D0C9B376FD}"/>
              </a:ext>
            </a:extLst>
          </p:cNvPr>
          <p:cNvCxnSpPr>
            <a:cxnSpLocks/>
          </p:cNvCxnSpPr>
          <p:nvPr/>
        </p:nvCxnSpPr>
        <p:spPr>
          <a:xfrm flipV="1">
            <a:off x="5346953" y="3429000"/>
            <a:ext cx="70424" cy="103518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10358EE9-CD47-2B52-14DC-3B577404D4C1}"/>
              </a:ext>
            </a:extLst>
          </p:cNvPr>
          <p:cNvCxnSpPr>
            <a:cxnSpLocks/>
          </p:cNvCxnSpPr>
          <p:nvPr/>
        </p:nvCxnSpPr>
        <p:spPr>
          <a:xfrm>
            <a:off x="5295898" y="4343401"/>
            <a:ext cx="647701" cy="1276154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72079" y="4998298"/>
            <a:ext cx="674433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/>
              <a:t>The new paper roll did not move properly inside the roller unit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4304" y="1192965"/>
            <a:ext cx="681216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Crush injury to the left hand </a:t>
            </a:r>
            <a:r>
              <a:rPr lang="en-US" b="1" dirty="0" err="1">
                <a:solidFill>
                  <a:srgbClr val="FF0000"/>
                </a:solidFill>
              </a:rPr>
              <a:t>index,middle</a:t>
            </a:r>
            <a:r>
              <a:rPr lang="en-US" b="1" dirty="0">
                <a:solidFill>
                  <a:srgbClr val="FF0000"/>
                </a:solidFill>
              </a:rPr>
              <a:t> and ring fingers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73901" y="1084967"/>
            <a:ext cx="990600" cy="609600"/>
            <a:chOff x="114300" y="1034534"/>
            <a:chExt cx="990600" cy="609600"/>
          </a:xfrm>
        </p:grpSpPr>
        <p:sp>
          <p:nvSpPr>
            <p:cNvPr id="2" name="Right Arrow 1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77344" y="1111754"/>
              <a:ext cx="927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Injury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33138" y="1957928"/>
            <a:ext cx="993264" cy="609600"/>
            <a:chOff x="111636" y="1034534"/>
            <a:chExt cx="993264" cy="609600"/>
          </a:xfrm>
        </p:grpSpPr>
        <p:sp>
          <p:nvSpPr>
            <p:cNvPr id="33" name="Right Arrow 32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33138" y="2945578"/>
            <a:ext cx="993264" cy="609600"/>
            <a:chOff x="111636" y="1034534"/>
            <a:chExt cx="993264" cy="609600"/>
          </a:xfrm>
        </p:grpSpPr>
        <p:sp>
          <p:nvSpPr>
            <p:cNvPr id="36" name="Right Arrow 35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2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93855" y="3980127"/>
            <a:ext cx="993264" cy="609600"/>
            <a:chOff x="111636" y="1034534"/>
            <a:chExt cx="993264" cy="609600"/>
          </a:xfrm>
        </p:grpSpPr>
        <p:sp>
          <p:nvSpPr>
            <p:cNvPr id="39" name="Right Arrow 38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3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ROOT CAUSE ANALYSIS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62713" y="3856473"/>
            <a:ext cx="6785291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/>
              <a:t>He attempted to feed the paper manually into the roller gap using his left hand while simultaneously switching on the roller unit with his right hand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94304" y="1957487"/>
            <a:ext cx="672211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/>
              <a:t>The trainee’s left hand got caught between the pleating rollers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561647" y="4891566"/>
            <a:ext cx="993264" cy="609600"/>
            <a:chOff x="111636" y="1034534"/>
            <a:chExt cx="993264" cy="609600"/>
          </a:xfrm>
        </p:grpSpPr>
        <p:sp>
          <p:nvSpPr>
            <p:cNvPr id="30" name="Right Arrow 29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4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1760649" y="5876557"/>
            <a:ext cx="6755765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>
                <a:solidFill>
                  <a:srgbClr val="FF0000"/>
                </a:solidFill>
              </a:rPr>
              <a:t>The edges of the running and new paper rolls were not properly joined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61647" y="5913288"/>
            <a:ext cx="993264" cy="609600"/>
            <a:chOff x="111636" y="1034534"/>
            <a:chExt cx="993264" cy="609600"/>
          </a:xfrm>
        </p:grpSpPr>
        <p:sp>
          <p:nvSpPr>
            <p:cNvPr id="8" name="Right Arrow 29"/>
            <p:cNvSpPr/>
            <p:nvPr/>
          </p:nvSpPr>
          <p:spPr>
            <a:xfrm>
              <a:off x="114300" y="1034534"/>
              <a:ext cx="990600" cy="6096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1636" y="1180298"/>
              <a:ext cx="927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WHY 5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D874BEE-C8DD-FFEA-86AA-5D881E02F214}"/>
              </a:ext>
            </a:extLst>
          </p:cNvPr>
          <p:cNvSpPr/>
          <p:nvPr/>
        </p:nvSpPr>
        <p:spPr>
          <a:xfrm>
            <a:off x="1815784" y="2975453"/>
            <a:ext cx="6785291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b="1" dirty="0"/>
              <a:t>The operator opened the safety door and inserted his left hand into the running roller. </a:t>
            </a:r>
            <a:r>
              <a:rPr lang="en-US" b="1" dirty="0">
                <a:solidFill>
                  <a:srgbClr val="FF0000"/>
                </a:solidFill>
              </a:rPr>
              <a:t>The safety door switch was in a bypassed condition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1524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CORRECTIVE ACTION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422071"/>
              </p:ext>
            </p:extLst>
          </p:nvPr>
        </p:nvGraphicFramePr>
        <p:xfrm>
          <a:off x="236855" y="968375"/>
          <a:ext cx="8717915" cy="5677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1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53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740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103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Sl.No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Cause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Accident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Corrective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Action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5500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1</a:t>
                      </a:r>
                    </a:p>
                    <a:p>
                      <a:pPr algn="l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The safety door switch was in a bypassed condition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Install tamper-proof safety interlock switches with bypass detection alarms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Ravikumar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21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/>
                        <a:t>Conduct On the Job training to all trainees/freshers and supervisors (with a focus on LOTO and interlocks)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Thiyagarajan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  <a:p>
                      <a:pPr marL="0" algn="l" defTabSz="914400" rtl="0" eaLnBrk="1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20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Safety FLM gaps to be reviewed by the Supervisors and Managers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Thiyagarajan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  <a:p>
                      <a:pPr marL="0" algn="l" defTabSz="914400" rtl="0" eaLnBrk="1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0725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/>
                        <a:t>Review and audit all machines to identify any other bypassed safety systems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Thiyagarajan/Ravikumar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10915559"/>
                  </a:ext>
                </a:extLst>
              </a:tr>
              <a:tr h="861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The edges of the running and new paper rolls were not properly joined</a:t>
                      </a:r>
                    </a:p>
                    <a:p>
                      <a:pPr algn="l" fontAlgn="ctr">
                        <a:buNone/>
                      </a:pPr>
                      <a:endParaRPr 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8561" marR="8561" marT="8561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/>
                        <a:t>Develop and implement SOP for paper roll changeover, including safe methods for feeding</a:t>
                      </a:r>
                      <a:endParaRPr lang="en-US" altLang="en-IN" sz="1800" b="1" kern="1200" dirty="0">
                        <a:solidFill>
                          <a:srgbClr val="222222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561" marR="8561" marT="8561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Thiyagarajan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flipV="1">
            <a:off x="0" y="838200"/>
            <a:ext cx="9144000" cy="7620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76200"/>
            <a:ext cx="2590800" cy="7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2400" y="304800"/>
            <a:ext cx="4343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Medical Treatment</a:t>
            </a:r>
            <a:endParaRPr lang="en-IN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295400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D76814E-1ACF-F0C8-44B6-3F97AACA30CD}"/>
              </a:ext>
            </a:extLst>
          </p:cNvPr>
          <p:cNvSpPr txBox="1"/>
          <p:nvPr/>
        </p:nvSpPr>
        <p:spPr>
          <a:xfrm>
            <a:off x="381000" y="1295400"/>
            <a:ext cx="7924800" cy="326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First Aid given at Jaya Hospital, Mathur</a:t>
            </a:r>
          </a:p>
          <a:p>
            <a:pPr>
              <a:lnSpc>
                <a:spcPct val="200000"/>
              </a:lnSpc>
            </a:pPr>
            <a:endParaRPr lang="en-US" sz="11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After First Aid ,Injured person transferred to SIMS Hospital, Vadapalani &amp; admitted under </a:t>
            </a:r>
            <a:r>
              <a:rPr lang="en-US" b="1" dirty="0" err="1"/>
              <a:t>Dr.Karthikeyan</a:t>
            </a:r>
            <a:r>
              <a:rPr lang="en-US" b="1" dirty="0"/>
              <a:t>-HOD, Plastic Surgeon</a:t>
            </a:r>
          </a:p>
          <a:p>
            <a:endParaRPr lang="en-US" sz="900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Wound debridement &amp; skin grafting  is done in SIMS Hospital, Vadapalani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5A55D7-D418-3986-4917-D928A478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F6DEF22B-AABB-C2B4-6558-C8F0ADD1BE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7685" y="999109"/>
            <a:ext cx="1431302" cy="33986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400DF741-717A-4906-85F4-79375D26811B}"/>
              </a:ext>
            </a:extLst>
          </p:cNvPr>
          <p:cNvCxnSpPr>
            <a:cxnSpLocks/>
          </p:cNvCxnSpPr>
          <p:nvPr/>
        </p:nvCxnSpPr>
        <p:spPr>
          <a:xfrm>
            <a:off x="38100" y="1456628"/>
            <a:ext cx="9067800" cy="0"/>
          </a:xfrm>
          <a:prstGeom prst="line">
            <a:avLst/>
          </a:prstGeom>
          <a:ln w="28575">
            <a:solidFill>
              <a:srgbClr val="2A09B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DB0226CE-C672-3E6A-39A7-CCF105DD6E9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5641" y="1514065"/>
          <a:ext cx="8930260" cy="87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0919">
                  <a:extLst>
                    <a:ext uri="{9D8B030D-6E8A-4147-A177-3AD203B41FA5}">
                      <a16:colId xmlns="" xmlns:a16="http://schemas.microsoft.com/office/drawing/2014/main" val="2138184999"/>
                    </a:ext>
                  </a:extLst>
                </a:gridCol>
                <a:gridCol w="4839341">
                  <a:extLst>
                    <a:ext uri="{9D8B030D-6E8A-4147-A177-3AD203B41FA5}">
                      <a16:colId xmlns="" xmlns:a16="http://schemas.microsoft.com/office/drawing/2014/main" val="1108755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smtClean="0">
                          <a:solidFill>
                            <a:schemeClr val="tx1"/>
                          </a:solidFill>
                        </a:rPr>
                        <a:t>Cause of Accident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smtClean="0">
                          <a:solidFill>
                            <a:schemeClr val="tx1"/>
                          </a:solidFill>
                        </a:rPr>
                        <a:t>Corrective Action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3948737"/>
                  </a:ext>
                </a:extLst>
              </a:tr>
              <a:tr h="580346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solidFill>
                            <a:srgbClr val="FF0000"/>
                          </a:solidFill>
                        </a:rPr>
                        <a:t>Safety door switch was in a bypassed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</a:rPr>
                        <a:t> condition</a:t>
                      </a:r>
                      <a:endParaRPr lang="en-IN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smtClean="0"/>
                        <a:t>Installed tamper</a:t>
                      </a:r>
                      <a:r>
                        <a:rPr lang="en-US" sz="1400" b="1" baseline="0" dirty="0" smtClean="0"/>
                        <a:t> proof safety interlock switches with bypass detection alarms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3184084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696" y="2528358"/>
            <a:ext cx="2495726" cy="302657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65027" y="2507576"/>
            <a:ext cx="2899064" cy="3140874"/>
          </a:xfrm>
          <a:prstGeom prst="roundRect">
            <a:avLst>
              <a:gd name="adj" fmla="val 5556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39" name="Rounded Rectangle 38"/>
          <p:cNvSpPr/>
          <p:nvPr/>
        </p:nvSpPr>
        <p:spPr>
          <a:xfrm>
            <a:off x="5051036" y="2507576"/>
            <a:ext cx="2899064" cy="3140874"/>
          </a:xfrm>
          <a:prstGeom prst="roundRect">
            <a:avLst>
              <a:gd name="adj" fmla="val 555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" r="14856" b="14785"/>
          <a:stretch/>
        </p:blipFill>
        <p:spPr>
          <a:xfrm>
            <a:off x="6380589" y="2794016"/>
            <a:ext cx="1468012" cy="14256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2" t="43448" r="47049" b="33904"/>
          <a:stretch/>
        </p:blipFill>
        <p:spPr>
          <a:xfrm>
            <a:off x="5123416" y="2794907"/>
            <a:ext cx="1178501" cy="14247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1" b="20846"/>
          <a:stretch/>
        </p:blipFill>
        <p:spPr>
          <a:xfrm>
            <a:off x="5124328" y="4273989"/>
            <a:ext cx="1178501" cy="122281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333219" y="3170751"/>
            <a:ext cx="415350" cy="334590"/>
          </a:xfrm>
          <a:prstGeom prst="roundRect">
            <a:avLst>
              <a:gd name="adj" fmla="val 5556"/>
            </a:avLst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2" name="Left Arrow 11"/>
          <p:cNvSpPr/>
          <p:nvPr/>
        </p:nvSpPr>
        <p:spPr>
          <a:xfrm>
            <a:off x="6325485" y="4694063"/>
            <a:ext cx="350167" cy="25037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42" name="Left Arrow 41"/>
          <p:cNvSpPr/>
          <p:nvPr/>
        </p:nvSpPr>
        <p:spPr>
          <a:xfrm rot="16200000">
            <a:off x="5365810" y="2843914"/>
            <a:ext cx="350167" cy="25037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3" name="Rounded Rectangle 12"/>
          <p:cNvSpPr/>
          <p:nvPr/>
        </p:nvSpPr>
        <p:spPr>
          <a:xfrm>
            <a:off x="5051036" y="2584491"/>
            <a:ext cx="2725184" cy="1560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Tamper proof interlocking switch provided</a:t>
            </a:r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675652" y="4694062"/>
            <a:ext cx="1167350" cy="38268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Bypass Detection alarms </a:t>
            </a:r>
            <a:endParaRPr lang="en-IN" sz="10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81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5A55D7-D418-3986-4917-D928A478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F6DEF22B-AABB-C2B4-6558-C8F0ADD1BE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7685" y="999109"/>
            <a:ext cx="1431302" cy="33986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400DF741-717A-4906-85F4-79375D26811B}"/>
              </a:ext>
            </a:extLst>
          </p:cNvPr>
          <p:cNvCxnSpPr>
            <a:cxnSpLocks/>
          </p:cNvCxnSpPr>
          <p:nvPr/>
        </p:nvCxnSpPr>
        <p:spPr>
          <a:xfrm>
            <a:off x="38100" y="1456628"/>
            <a:ext cx="9067800" cy="0"/>
          </a:xfrm>
          <a:prstGeom prst="line">
            <a:avLst/>
          </a:prstGeom>
          <a:ln w="28575">
            <a:solidFill>
              <a:srgbClr val="2A09B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DB0226CE-C672-3E6A-39A7-CCF105DD6E9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5642" y="1514066"/>
          <a:ext cx="8750150" cy="705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0150">
                  <a:extLst>
                    <a:ext uri="{9D8B030D-6E8A-4147-A177-3AD203B41FA5}">
                      <a16:colId xmlns="" xmlns:a16="http://schemas.microsoft.com/office/drawing/2014/main" val="2138184999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smtClean="0">
                          <a:solidFill>
                            <a:schemeClr val="tx1"/>
                          </a:solidFill>
                        </a:rPr>
                        <a:t>Corrective Action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83948737"/>
                  </a:ext>
                </a:extLst>
              </a:tr>
              <a:tr h="4079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baseline="0" dirty="0" smtClean="0"/>
                        <a:t>Conducted on the Job training to all trainees / fresher and supervisors (with a focus on LOTO and interlocks)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031840840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3" t="7341" r="4588" b="11971"/>
          <a:stretch/>
        </p:blipFill>
        <p:spPr>
          <a:xfrm>
            <a:off x="918360" y="2485654"/>
            <a:ext cx="3653641" cy="21118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" t="8254" r="832" b="11111"/>
          <a:stretch/>
        </p:blipFill>
        <p:spPr>
          <a:xfrm>
            <a:off x="4759615" y="2485654"/>
            <a:ext cx="4049372" cy="21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0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5A55D7-D418-3986-4917-D928A478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F6DEF22B-AABB-C2B4-6558-C8F0ADD1BE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7685" y="999109"/>
            <a:ext cx="1431302" cy="33986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400DF741-717A-4906-85F4-79375D26811B}"/>
              </a:ext>
            </a:extLst>
          </p:cNvPr>
          <p:cNvCxnSpPr>
            <a:cxnSpLocks/>
          </p:cNvCxnSpPr>
          <p:nvPr/>
        </p:nvCxnSpPr>
        <p:spPr>
          <a:xfrm>
            <a:off x="38100" y="1456628"/>
            <a:ext cx="9067800" cy="0"/>
          </a:xfrm>
          <a:prstGeom prst="line">
            <a:avLst/>
          </a:prstGeom>
          <a:ln w="28575">
            <a:solidFill>
              <a:srgbClr val="2A09B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DB0226CE-C672-3E6A-39A7-CCF105DD6E9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5641" y="1514065"/>
          <a:ext cx="8854059" cy="98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6011">
                  <a:extLst>
                    <a:ext uri="{9D8B030D-6E8A-4147-A177-3AD203B41FA5}">
                      <a16:colId xmlns="" xmlns:a16="http://schemas.microsoft.com/office/drawing/2014/main" val="2138184999"/>
                    </a:ext>
                  </a:extLst>
                </a:gridCol>
                <a:gridCol w="4798048">
                  <a:extLst>
                    <a:ext uri="{9D8B030D-6E8A-4147-A177-3AD203B41FA5}">
                      <a16:colId xmlns="" xmlns:a16="http://schemas.microsoft.com/office/drawing/2014/main" val="1108755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smtClean="0">
                          <a:solidFill>
                            <a:schemeClr val="tx1"/>
                          </a:solidFill>
                        </a:rPr>
                        <a:t>Cause of Accident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 smtClean="0">
                          <a:solidFill>
                            <a:schemeClr val="tx1"/>
                          </a:solidFill>
                        </a:rPr>
                        <a:t>Corrective Action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8394873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b="1" baseline="0" dirty="0" smtClean="0"/>
                        <a:t>Filter paper entry to roller: Safety door bottom having gap 20mm which having chance of finger may enter inside it</a:t>
                      </a:r>
                      <a:endParaRPr lang="en-IN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smtClean="0"/>
                        <a:t>safety door design has been modified to reduce the gap to less than </a:t>
                      </a:r>
                      <a:r>
                        <a:rPr lang="en-US" sz="1400" b="1" dirty="0" smtClean="0"/>
                        <a:t>8 mm</a:t>
                      </a:r>
                      <a:endParaRPr lang="en-US" sz="1400" b="1" baseline="0" dirty="0" smtClean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03184084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7EA9739-AE16-99AA-57DD-B4FD69E5A63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1" t="18340" r="27124" b="19302"/>
          <a:stretch/>
        </p:blipFill>
        <p:spPr>
          <a:xfrm>
            <a:off x="1208313" y="2707821"/>
            <a:ext cx="3080659" cy="23318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" t="25436" r="-1949" b="11534"/>
          <a:stretch/>
        </p:blipFill>
        <p:spPr>
          <a:xfrm>
            <a:off x="4680856" y="2707821"/>
            <a:ext cx="3755573" cy="2331888"/>
          </a:xfrm>
          <a:prstGeom prst="rect">
            <a:avLst/>
          </a:prstGeom>
        </p:spPr>
      </p:pic>
      <p:sp>
        <p:nvSpPr>
          <p:cNvPr id="5" name="Up-Down Arrow 4"/>
          <p:cNvSpPr/>
          <p:nvPr/>
        </p:nvSpPr>
        <p:spPr>
          <a:xfrm>
            <a:off x="2177143" y="4514851"/>
            <a:ext cx="261257" cy="426887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9" name="Right Arrow 8"/>
          <p:cNvSpPr/>
          <p:nvPr/>
        </p:nvSpPr>
        <p:spPr>
          <a:xfrm rot="17542551">
            <a:off x="5587368" y="4399417"/>
            <a:ext cx="370114" cy="2637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164551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82*446"/>
  <p:tag name="TABLE_ENDDRAG_RECT" val="18*76*682*44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587</Words>
  <Application>Microsoft Office PowerPoint</Application>
  <PresentationFormat>On-screen Show (4:3)</PresentationFormat>
  <Paragraphs>106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Sivaraman S.</dc:creator>
  <cp:lastModifiedBy>Rajesh M</cp:lastModifiedBy>
  <cp:revision>268</cp:revision>
  <cp:lastPrinted>2024-01-26T10:04:00Z</cp:lastPrinted>
  <dcterms:created xsi:type="dcterms:W3CDTF">2006-08-16T00:00:00Z</dcterms:created>
  <dcterms:modified xsi:type="dcterms:W3CDTF">2025-11-15T04:03:24Z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CED1A5D92FAE4F67BD3A4297F35FD568_13</vt:lpwstr>
  </property>
  <property fmtid="{D5CDD505-2E9C-101B-9397-08002B2CF9AE}" pid="3" name="KSOProductBuildVer">
    <vt:lpwstr>1033-12.2.0.17153</vt:lpwstr>
  </property>
</Properties>
</file>