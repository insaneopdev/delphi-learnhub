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7" r:id="rId3"/>
    <p:sldId id="598" r:id="rId4"/>
    <p:sldId id="597" r:id="rId5"/>
    <p:sldId id="610" r:id="rId7"/>
    <p:sldId id="595" r:id="rId8"/>
    <p:sldId id="611" r:id="rId9"/>
    <p:sldId id="601" r:id="rId10"/>
    <p:sldId id="586" r:id="rId11"/>
  </p:sldIdLst>
  <p:sldSz cx="9144000" cy="6858000" type="screen4x3"/>
  <p:notesSz cx="6797675" cy="992632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ivaraman S." initials="SS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12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14" autoAdjust="0"/>
    <p:restoredTop sz="94660"/>
  </p:normalViewPr>
  <p:slideViewPr>
    <p:cSldViewPr showGuides="1">
      <p:cViewPr>
        <p:scale>
          <a:sx n="75" d="100"/>
          <a:sy n="75" d="100"/>
        </p:scale>
        <p:origin x="1338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commentAuthors" Target="commentAuthors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4A5E37-67F6-4F58-9EF0-A6AA9983E3D4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B0ECC5-E738-4E8C-A262-6A0421E4DDB4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B0ECC5-E738-4E8C-A262-6A0421E4DDB4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B0ECC5-E738-4E8C-A262-6A0421E4DDB4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B0ECC5-E738-4E8C-A262-6A0421E4DDB4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F7E1B-C12C-4563-9215-6D58020DB2A1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44E75-F74C-4E43-967E-25EFD0045953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8087D-94AF-4342-8B5D-87924E072B9F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A7A64-4B01-46A3-89E2-E493378FD397}" type="datetime1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2167-00BD-4CB7-A335-22A7DDD177DB}" type="datetime1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3C96C-285F-4F49-AA1A-865FEB38430B}" type="datetime1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F63AC-E8A9-483B-AC9A-C71D52819B55}" type="datetime1">
              <a:rPr lang="en-US" smtClean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B7B30-C95A-41BE-B595-A26C5B5C4613}" type="datetime1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AD4E5-5EFF-4B25-8A03-948971A2DEEF}" type="datetime1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EAC5E-1FBB-4D37-8734-2DF43973A7C4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58D9E-B84E-4FD4-AE30-FB5FF08F6727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2B64FD-2EB7-4AC8-BF7A-1709AABE5D6F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jpe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 flipV="1">
            <a:off x="0" y="838200"/>
            <a:ext cx="9144000" cy="76200"/>
          </a:xfrm>
          <a:prstGeom prst="line">
            <a:avLst/>
          </a:prstGeom>
          <a:ln w="381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6477000" y="76200"/>
            <a:ext cx="2590800" cy="709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702455" y="1447800"/>
            <a:ext cx="7739090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REPORTABLE INCIDENT REPORT</a:t>
            </a:r>
            <a:endParaRPr lang="en-US" sz="4400" b="1" dirty="0"/>
          </a:p>
          <a:p>
            <a:pPr algn="ctr"/>
            <a:endParaRPr lang="en-US" sz="4400" b="1" dirty="0"/>
          </a:p>
          <a:p>
            <a:pPr algn="ctr"/>
            <a:endParaRPr lang="en-US" sz="4000" b="1" dirty="0"/>
          </a:p>
          <a:p>
            <a:pPr algn="ctr"/>
            <a:r>
              <a:rPr lang="en-US" sz="4400" b="1" dirty="0"/>
              <a:t>Delphi TVS Technologies Ltd,</a:t>
            </a:r>
            <a:endParaRPr lang="en-US" sz="4400" b="1" dirty="0"/>
          </a:p>
          <a:p>
            <a:pPr algn="ctr"/>
            <a:r>
              <a:rPr lang="en-US" sz="4400" b="1" dirty="0" err="1"/>
              <a:t>Oragadam</a:t>
            </a:r>
            <a:endParaRPr lang="en-US" sz="4400" b="1" dirty="0"/>
          </a:p>
          <a:p>
            <a:pPr algn="ctr"/>
            <a:endParaRPr lang="en-US" sz="4400" b="1" dirty="0"/>
          </a:p>
          <a:p>
            <a:endParaRPr lang="en-IN" sz="44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57225" y="1219200"/>
            <a:ext cx="7894320" cy="433832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sz="2000" b="1" dirty="0"/>
          </a:p>
          <a:p>
            <a:r>
              <a:rPr lang="en-US" sz="2000" b="1" dirty="0"/>
              <a:t>Department        		: Heat Treatment</a:t>
            </a:r>
            <a:endParaRPr lang="en-US" sz="2000" b="1" dirty="0"/>
          </a:p>
          <a:p>
            <a:endParaRPr lang="en-US" sz="2000" b="1" dirty="0"/>
          </a:p>
          <a:p>
            <a:pPr>
              <a:lnSpc>
                <a:spcPct val="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dirty="0"/>
              <a:t>Process / Activity 	: DFP6 Hydraulic Head  movement by Material                 </a:t>
            </a:r>
            <a:endParaRPr lang="en-US" sz="2000" b="1" dirty="0"/>
          </a:p>
          <a:p>
            <a:pPr>
              <a:lnSpc>
                <a:spcPct val="60000"/>
              </a:lnSpc>
              <a:spcBef>
                <a:spcPts val="0"/>
              </a:spcBef>
              <a:spcAft>
                <a:spcPts val="0"/>
              </a:spcAft>
            </a:pPr>
            <a:endParaRPr lang="en-US" sz="2000" b="1" dirty="0"/>
          </a:p>
          <a:p>
            <a:pPr>
              <a:lnSpc>
                <a:spcPct val="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dirty="0"/>
              <a:t>                                                   Handling Trolley (From HT to DFP6)</a:t>
            </a:r>
            <a:endParaRPr lang="en-US" sz="2000" b="1" dirty="0"/>
          </a:p>
          <a:p>
            <a:endParaRPr lang="en-US" sz="2000" b="1" dirty="0"/>
          </a:p>
          <a:p>
            <a:r>
              <a:rPr lang="en-US" sz="2000" b="1" dirty="0"/>
              <a:t>Injured person       	: Kalaiselvan A</a:t>
            </a:r>
            <a:endParaRPr lang="en-IN" sz="2000" b="1" dirty="0"/>
          </a:p>
          <a:p>
            <a:endParaRPr lang="en-US" sz="2000" b="1" dirty="0"/>
          </a:p>
          <a:p>
            <a:r>
              <a:rPr lang="en-US" sz="2000" b="1" dirty="0" err="1"/>
              <a:t>CC.No</a:t>
            </a:r>
            <a:r>
              <a:rPr lang="en-US" sz="2000" b="1" dirty="0"/>
              <a:t>                   		: RS10171</a:t>
            </a:r>
            <a:endParaRPr lang="en-US" sz="2000" b="1" dirty="0"/>
          </a:p>
          <a:p>
            <a:endParaRPr lang="en-US" sz="2000" b="1" dirty="0"/>
          </a:p>
          <a:p>
            <a:r>
              <a:rPr lang="en-US" sz="2000" b="1" dirty="0"/>
              <a:t>Date  &amp; Shift                 	: 03.08.2024 &amp; 3rd shift </a:t>
            </a:r>
            <a:endParaRPr lang="en-US" sz="2000" b="1" dirty="0"/>
          </a:p>
          <a:p>
            <a:endParaRPr lang="en-US" sz="2000" b="1" dirty="0"/>
          </a:p>
          <a:p>
            <a:r>
              <a:rPr lang="en-US" sz="2000" b="1" dirty="0"/>
              <a:t>Incident Time    		: 1.25 AM</a:t>
            </a:r>
            <a:endParaRPr lang="en-US" sz="2000" b="1" dirty="0"/>
          </a:p>
          <a:p>
            <a:endParaRPr lang="en-US" sz="2000" b="1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990600" y="157490"/>
            <a:ext cx="7391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INCIDENT DETAILS</a:t>
            </a:r>
            <a:endParaRPr lang="en-IN" sz="32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152400"/>
            <a:ext cx="7391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INCIDENT DESCRIPTION</a:t>
            </a:r>
            <a:endParaRPr lang="en-IN" sz="2800" b="1" dirty="0">
              <a:solidFill>
                <a:schemeClr val="bg1"/>
              </a:solidFill>
            </a:endParaRPr>
          </a:p>
        </p:txBody>
      </p:sp>
      <p:sp>
        <p:nvSpPr>
          <p:cNvPr id="14" name="Left Arrow 13"/>
          <p:cNvSpPr/>
          <p:nvPr/>
        </p:nvSpPr>
        <p:spPr>
          <a:xfrm>
            <a:off x="7467473" y="4987865"/>
            <a:ext cx="1443567" cy="838200"/>
          </a:xfrm>
          <a:prstGeom prst="lef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FF0000"/>
                </a:solidFill>
              </a:rPr>
              <a:t>Detached trolley Wheel</a:t>
            </a:r>
            <a:endParaRPr lang="en-IN" sz="1200" b="1" dirty="0">
              <a:solidFill>
                <a:srgbClr val="FF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6200" y="990600"/>
            <a:ext cx="5562600" cy="56464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/>
              <a:t>At 1.15am, </a:t>
            </a:r>
            <a:r>
              <a:rPr lang="en-US" dirty="0" err="1"/>
              <a:t>ArunPrakash</a:t>
            </a:r>
            <a:r>
              <a:rPr lang="en-US" dirty="0"/>
              <a:t> S (FPD supervisor) informed the trainees </a:t>
            </a:r>
            <a:r>
              <a:rPr lang="en-US" dirty="0" err="1"/>
              <a:t>Kalaiselvan</a:t>
            </a:r>
            <a:r>
              <a:rPr lang="en-US" dirty="0"/>
              <a:t> and Murugan to move the DFP6 Hydraulic Head component loaded trolley by manually from Heat Treatment to DFP6 hard stage area.</a:t>
            </a:r>
            <a:endParaRPr lang="en-US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/>
              <a:t>Following the instructions , trainee Kalaisaelvan started moving the trolley from HT passing through Phase 1 building main gangway route and then through the main road passage.</a:t>
            </a:r>
            <a:endParaRPr lang="en-US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b="0" i="0" dirty="0">
              <a:solidFill>
                <a:srgbClr val="1C1C1C"/>
              </a:solidFill>
              <a:effectLst/>
              <a:highlight>
                <a:srgbClr val="FFFFFF"/>
              </a:highlight>
              <a:latin typeface="Inter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/>
              <a:t>While moving on,the rear end left wheel detached from the trolley and causing the trolley collapsed and so trainee attempted to balance the trolley from falling off.</a:t>
            </a:r>
            <a:endParaRPr lang="en-US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/>
              <a:t>During that time, the trolley completely fell on his right leg and resulted to bone fracture injury in his right leg with an open wound.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1" t="27778" r="7037" b="12222"/>
          <a:stretch>
            <a:fillRect/>
          </a:stretch>
        </p:blipFill>
        <p:spPr>
          <a:xfrm>
            <a:off x="5795645" y="996950"/>
            <a:ext cx="3115310" cy="25146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795645" y="3549650"/>
            <a:ext cx="3115310" cy="5334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rgbClr val="FF0000"/>
                </a:solidFill>
              </a:rPr>
              <a:t>Component loaded trolley fell down while </a:t>
            </a:r>
            <a:r>
              <a:rPr lang="en-US" altLang="en-IN" sz="1600" b="1" dirty="0">
                <a:solidFill>
                  <a:srgbClr val="FF0000"/>
                </a:solidFill>
              </a:rPr>
              <a:t>moving</a:t>
            </a:r>
            <a:r>
              <a:rPr lang="en-IN" sz="1600" b="1" dirty="0">
                <a:solidFill>
                  <a:srgbClr val="FF0000"/>
                </a:solidFill>
              </a:rPr>
              <a:t> it</a:t>
            </a:r>
            <a:endParaRPr lang="en-IN" sz="1600" b="1" dirty="0">
              <a:solidFill>
                <a:srgbClr val="FF0000"/>
              </a:solidFill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8515" y="4495800"/>
            <a:ext cx="1569085" cy="182308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152400"/>
            <a:ext cx="7391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INCIDENT DESCRIPTION</a:t>
            </a:r>
            <a:endParaRPr lang="en-IN" sz="2800" b="1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6200" y="990600"/>
            <a:ext cx="4495165" cy="56464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indent="0">
              <a:buFont typeface="Wingdings" panose="05000000000000000000" pitchFamily="2" charset="2"/>
              <a:buNone/>
            </a:pPr>
            <a:r>
              <a:rPr lang="en-US" sz="2400" b="1" u="sng" dirty="0"/>
              <a:t>Observations:</a:t>
            </a:r>
            <a:endParaRPr lang="en-US" sz="2400" b="1" u="sng" dirty="0"/>
          </a:p>
          <a:p>
            <a:pPr indent="0">
              <a:buFont typeface="Wingdings" panose="05000000000000000000" pitchFamily="2" charset="2"/>
              <a:buNone/>
            </a:pPr>
            <a:endParaRPr lang="en-US" sz="2400" b="1" u="sng" dirty="0"/>
          </a:p>
          <a:p>
            <a:pPr indent="0">
              <a:buFont typeface="Wingdings" panose="05000000000000000000" pitchFamily="2" charset="2"/>
              <a:buNone/>
            </a:pPr>
            <a:r>
              <a:rPr lang="en-US" sz="2000" dirty="0"/>
              <a:t>1)No Nuts (securing the wheel bolts with base plate) were observed. </a:t>
            </a:r>
            <a:endParaRPr lang="en-US" sz="2000" dirty="0"/>
          </a:p>
          <a:p>
            <a:pPr indent="0">
              <a:buFont typeface="Wingdings" panose="05000000000000000000" pitchFamily="2" charset="2"/>
              <a:buNone/>
            </a:pPr>
            <a:endParaRPr lang="en-US" sz="2000" dirty="0"/>
          </a:p>
          <a:p>
            <a:pPr indent="0">
              <a:buFont typeface="Wingdings" panose="05000000000000000000" pitchFamily="2" charset="2"/>
              <a:buNone/>
            </a:pPr>
            <a:r>
              <a:rPr lang="en-US" sz="2000" dirty="0"/>
              <a:t>2)Rotating wheels had been fixed in the rear end side of the trolley.(Should be at the front end side where handle is provided)</a:t>
            </a:r>
            <a:endParaRPr lang="en-US" sz="2000" dirty="0"/>
          </a:p>
          <a:p>
            <a:pPr indent="0">
              <a:buFont typeface="Wingdings" panose="05000000000000000000" pitchFamily="2" charset="2"/>
              <a:buNone/>
            </a:pPr>
            <a:endParaRPr lang="en-US" sz="2000" dirty="0"/>
          </a:p>
          <a:p>
            <a:pPr indent="0">
              <a:buFont typeface="Wingdings" panose="05000000000000000000" pitchFamily="2" charset="2"/>
              <a:buNone/>
            </a:pPr>
            <a:r>
              <a:rPr lang="en-US" sz="2000" dirty="0"/>
              <a:t>3)Material Handling Trolley with full load was moved manually by pushing the trolley by a single person.</a:t>
            </a: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/>
          </a:p>
          <a:p>
            <a:pPr indent="0">
              <a:buFont typeface="Wingdings" panose="05000000000000000000" pitchFamily="2" charset="2"/>
              <a:buNone/>
            </a:pPr>
            <a:r>
              <a:rPr lang="en-US" sz="2000" dirty="0"/>
              <a:t>4)Un even surfaces in the Road</a:t>
            </a:r>
            <a:endParaRPr lang="en-US" sz="20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48200" y="990600"/>
            <a:ext cx="4327525" cy="2826385"/>
          </a:xfrm>
          <a:prstGeom prst="rect">
            <a:avLst/>
          </a:prstGeom>
        </p:spPr>
      </p:pic>
      <p:pic>
        <p:nvPicPr>
          <p:cNvPr id="6" name="Picture 5"/>
          <p:cNvPicPr/>
          <p:nvPr/>
        </p:nvPicPr>
        <p:blipFill>
          <a:blip r:embed="rId2"/>
        </p:blipFill>
        <p:spPr>
          <a:xfrm>
            <a:off x="4648200" y="3886200"/>
            <a:ext cx="4327525" cy="275145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820545" y="3962400"/>
            <a:ext cx="6744335" cy="645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fontAlgn="ctr"/>
            <a:r>
              <a:rPr lang="en-US" b="1" dirty="0"/>
              <a:t>Bolt Nuts securing the Trolley wheel with base plate were in loose condition</a:t>
            </a:r>
            <a:endParaRPr lang="en-US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786947" y="1974149"/>
            <a:ext cx="6777934" cy="6451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DFP6 hydraulic Head components loaded </a:t>
            </a:r>
            <a:r>
              <a:rPr lang="en-US" b="1" dirty="0">
                <a:solidFill>
                  <a:srgbClr val="FF0000"/>
                </a:solidFill>
              </a:rPr>
              <a:t>trolley collapsed and fell</a:t>
            </a:r>
            <a:r>
              <a:rPr lang="en-US" b="1" dirty="0"/>
              <a:t> on his right leg while movement </a:t>
            </a:r>
            <a:endParaRPr lang="en-US" b="1" dirty="0"/>
          </a:p>
        </p:txBody>
      </p:sp>
      <p:sp>
        <p:nvSpPr>
          <p:cNvPr id="22" name="Rectangle 21"/>
          <p:cNvSpPr/>
          <p:nvPr/>
        </p:nvSpPr>
        <p:spPr>
          <a:xfrm>
            <a:off x="1794304" y="1192965"/>
            <a:ext cx="6812168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Trainee sustained bone fracture in his right leg</a:t>
            </a:r>
            <a:endParaRPr lang="en-US" b="1" dirty="0">
              <a:solidFill>
                <a:srgbClr val="FF0000"/>
              </a:solidFill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573901" y="1084967"/>
            <a:ext cx="990600" cy="609600"/>
            <a:chOff x="114300" y="1034534"/>
            <a:chExt cx="990600" cy="609600"/>
          </a:xfrm>
        </p:grpSpPr>
        <p:sp>
          <p:nvSpPr>
            <p:cNvPr id="2" name="Right Arrow 1"/>
            <p:cNvSpPr/>
            <p:nvPr/>
          </p:nvSpPr>
          <p:spPr>
            <a:xfrm>
              <a:off x="114300" y="1034534"/>
              <a:ext cx="990600" cy="609600"/>
            </a:xfrm>
            <a:prstGeom prst="rightArrow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177344" y="1111754"/>
              <a:ext cx="92755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rgbClr val="FF0000"/>
                  </a:solidFill>
                </a:rPr>
                <a:t>Injury</a:t>
              </a:r>
              <a:endParaRPr lang="en-US" sz="20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533138" y="1957928"/>
            <a:ext cx="993264" cy="609600"/>
            <a:chOff x="111636" y="1034534"/>
            <a:chExt cx="993264" cy="609600"/>
          </a:xfrm>
        </p:grpSpPr>
        <p:sp>
          <p:nvSpPr>
            <p:cNvPr id="33" name="Right Arrow 32"/>
            <p:cNvSpPr/>
            <p:nvPr/>
          </p:nvSpPr>
          <p:spPr>
            <a:xfrm>
              <a:off x="114300" y="1034534"/>
              <a:ext cx="990600" cy="609600"/>
            </a:xfrm>
            <a:prstGeom prst="rightArrow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111636" y="1180298"/>
              <a:ext cx="927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WHY 1</a:t>
              </a:r>
              <a:endParaRPr lang="en-US" b="1" dirty="0"/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533138" y="2945578"/>
            <a:ext cx="993264" cy="609600"/>
            <a:chOff x="111636" y="1034534"/>
            <a:chExt cx="993264" cy="609600"/>
          </a:xfrm>
        </p:grpSpPr>
        <p:sp>
          <p:nvSpPr>
            <p:cNvPr id="36" name="Right Arrow 35"/>
            <p:cNvSpPr/>
            <p:nvPr/>
          </p:nvSpPr>
          <p:spPr>
            <a:xfrm>
              <a:off x="114300" y="1034534"/>
              <a:ext cx="990600" cy="609600"/>
            </a:xfrm>
            <a:prstGeom prst="rightArrow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111636" y="1180298"/>
              <a:ext cx="927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WHY 2</a:t>
              </a:r>
              <a:endParaRPr lang="en-US" b="1" dirty="0"/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493855" y="3980127"/>
            <a:ext cx="993264" cy="609600"/>
            <a:chOff x="111636" y="1034534"/>
            <a:chExt cx="993264" cy="609600"/>
          </a:xfrm>
        </p:grpSpPr>
        <p:sp>
          <p:nvSpPr>
            <p:cNvPr id="39" name="Right Arrow 38"/>
            <p:cNvSpPr/>
            <p:nvPr/>
          </p:nvSpPr>
          <p:spPr>
            <a:xfrm>
              <a:off x="114300" y="1034534"/>
              <a:ext cx="990600" cy="609600"/>
            </a:xfrm>
            <a:prstGeom prst="rightArrow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111636" y="1180298"/>
              <a:ext cx="927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WHY 3</a:t>
              </a:r>
              <a:endParaRPr lang="en-US" b="1" dirty="0"/>
            </a:p>
          </p:txBody>
        </p:sp>
      </p:grpSp>
      <p:sp>
        <p:nvSpPr>
          <p:cNvPr id="24" name="Rectangle 23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5" name="TextBox 24"/>
          <p:cNvSpPr txBox="1"/>
          <p:nvPr/>
        </p:nvSpPr>
        <p:spPr>
          <a:xfrm>
            <a:off x="228600" y="152400"/>
            <a:ext cx="7391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ROOT CAUSE ANALYSIS</a:t>
            </a:r>
            <a:endParaRPr lang="en-IN" sz="2800" b="1" dirty="0">
              <a:solidFill>
                <a:schemeClr val="bg1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1786947" y="2986341"/>
            <a:ext cx="6785291" cy="3683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fontAlgn="ctr"/>
            <a:r>
              <a:rPr lang="en-US" b="1" dirty="0"/>
              <a:t>One of the wheel </a:t>
            </a:r>
            <a:r>
              <a:rPr lang="en-US" b="1" dirty="0">
                <a:sym typeface="+mn-ea"/>
              </a:rPr>
              <a:t>(rear end left) </a:t>
            </a:r>
            <a:r>
              <a:rPr lang="en-US" b="1" dirty="0"/>
              <a:t>in the trolley </a:t>
            </a:r>
            <a:r>
              <a:rPr lang="en-US" b="1" dirty="0">
                <a:solidFill>
                  <a:srgbClr val="FF0000"/>
                </a:solidFill>
              </a:rPr>
              <a:t>got</a:t>
            </a:r>
            <a:r>
              <a:rPr lang="en-US" b="1" dirty="0">
                <a:solidFill>
                  <a:srgbClr val="FF0000"/>
                </a:solidFill>
                <a:sym typeface="+mn-ea"/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detached 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1842770" y="4869180"/>
            <a:ext cx="6722110" cy="645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fontAlgn="ctr"/>
            <a:r>
              <a:rPr lang="en-US" b="1" dirty="0">
                <a:solidFill>
                  <a:srgbClr val="FF0000"/>
                </a:solidFill>
              </a:rPr>
              <a:t>Trolley condition monitoring and maintenance was not performed on this material handling trolley </a:t>
            </a:r>
            <a:endParaRPr lang="en-US" b="1" dirty="0">
              <a:solidFill>
                <a:srgbClr val="FF0000"/>
              </a:solidFill>
            </a:endParaRPr>
          </a:p>
        </p:txBody>
      </p:sp>
      <p:grpSp>
        <p:nvGrpSpPr>
          <p:cNvPr id="29" name="Group 28"/>
          <p:cNvGrpSpPr/>
          <p:nvPr/>
        </p:nvGrpSpPr>
        <p:grpSpPr>
          <a:xfrm>
            <a:off x="561647" y="4891566"/>
            <a:ext cx="993264" cy="609600"/>
            <a:chOff x="111636" y="1034534"/>
            <a:chExt cx="993264" cy="609600"/>
          </a:xfrm>
        </p:grpSpPr>
        <p:sp>
          <p:nvSpPr>
            <p:cNvPr id="30" name="Right Arrow 29"/>
            <p:cNvSpPr/>
            <p:nvPr/>
          </p:nvSpPr>
          <p:spPr>
            <a:xfrm>
              <a:off x="114300" y="1034534"/>
              <a:ext cx="990600" cy="609600"/>
            </a:xfrm>
            <a:prstGeom prst="rightArrow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11636" y="1180298"/>
              <a:ext cx="927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WHY 4</a:t>
              </a:r>
              <a:endParaRPr lang="en-US" b="1" dirty="0"/>
            </a:p>
          </p:txBody>
        </p:sp>
      </p:grpSp>
      <p:sp>
        <p:nvSpPr>
          <p:cNvPr id="4" name="Rectangle 3"/>
          <p:cNvSpPr/>
          <p:nvPr/>
        </p:nvSpPr>
        <p:spPr>
          <a:xfrm>
            <a:off x="1816735" y="5909945"/>
            <a:ext cx="6755765" cy="645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fontAlgn="ctr"/>
            <a:r>
              <a:rPr lang="en-US" b="1" dirty="0">
                <a:solidFill>
                  <a:srgbClr val="FF0000"/>
                </a:solidFill>
              </a:rPr>
              <a:t>No system to ensure for condtion monitoring and maintenance of Material Handling trolley</a:t>
            </a:r>
            <a:endParaRPr lang="en-US" b="1" dirty="0">
              <a:solidFill>
                <a:srgbClr val="FF0000"/>
              </a:solidFill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561647" y="5913288"/>
            <a:ext cx="993264" cy="609600"/>
            <a:chOff x="111636" y="1034534"/>
            <a:chExt cx="993264" cy="609600"/>
          </a:xfrm>
        </p:grpSpPr>
        <p:sp>
          <p:nvSpPr>
            <p:cNvPr id="8" name="Right Arrow 29"/>
            <p:cNvSpPr/>
            <p:nvPr/>
          </p:nvSpPr>
          <p:spPr>
            <a:xfrm>
              <a:off x="114300" y="1034534"/>
              <a:ext cx="990600" cy="609600"/>
            </a:xfrm>
            <a:prstGeom prst="rightArrow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11636" y="1180298"/>
              <a:ext cx="927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WHY 5</a:t>
              </a:r>
              <a:endParaRPr lang="en-US" b="1" dirty="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228600" y="152400"/>
            <a:ext cx="7391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 CORRECTIVE ACTION</a:t>
            </a:r>
            <a:endParaRPr lang="en-IN" sz="2800" b="1" dirty="0">
              <a:solidFill>
                <a:schemeClr val="bg1"/>
              </a:solidFill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36855" y="968375"/>
          <a:ext cx="8669655" cy="576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3895"/>
                <a:gridCol w="2453640"/>
                <a:gridCol w="2988310"/>
                <a:gridCol w="1251585"/>
                <a:gridCol w="1292225"/>
              </a:tblGrid>
              <a:tr h="734060"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Sl.No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Cause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 of Accident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Corrective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 Action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Resp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Target Date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25500">
                <a:tc rowSpan="3">
                  <a:txBody>
                    <a:bodyPr/>
                    <a:p>
                      <a:pPr algn="l">
                        <a:buNone/>
                      </a:pPr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pPr algn="l">
                        <a:buNone/>
                      </a:pPr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pPr algn="l">
                        <a:buNone/>
                      </a:pPr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p>
                      <a:pPr algn="l"/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  <a:p>
                      <a:pPr algn="l"/>
                      <a:r>
                        <a:rPr lang="en-US" sz="1800" b="1" dirty="0">
                          <a:solidFill>
                            <a:srgbClr val="FF0000"/>
                          </a:solidFill>
                          <a:sym typeface="+mn-ea"/>
                        </a:rPr>
                        <a:t>No system to ensure for condtion monitoring and maintenance of Material Handling trolley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 comprehensive SOP to be made for Material Handling Trollies on Safe usage, monitoring and maintenance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pPr algn="l">
                        <a:buNone/>
                      </a:pPr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pPr algn="l"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R.Gopu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rgbClr r="0" g="0" b="0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10.08.2024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12140">
                <a:tc vMerge="1"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FLM for Material Handling Trollies to be introduced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rgbClr r="0" g="0" b="0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R.Gopu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rgbClr r="0" g="0" b="0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10.08.2024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20725">
                <a:tc vMerge="1"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sym typeface="+mn-ea"/>
                        </a:rPr>
                        <a:t>PM for Material Handling Trollies to be done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rgbClr r="0" g="0" b="0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D.Muthukumaran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rgbClr r="0" g="0" b="0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61695">
                <a:tc>
                  <a:txBody>
                    <a:bodyPr/>
                    <a:p>
                      <a:pPr algn="ctr">
                        <a:buNone/>
                      </a:pP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  <a:p>
                      <a:pPr algn="ctr">
                        <a:buNone/>
                      </a:pP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  <a:p>
                      <a:pPr algn="ctr">
                        <a:buNone/>
                      </a:pP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  <a:p>
                      <a:pPr algn="ctr">
                        <a:buNone/>
                      </a:pP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lang="en-US" sz="1800" b="1" dirty="0">
                          <a:solidFill>
                            <a:srgbClr val="FF0000"/>
                          </a:solidFill>
                          <a:sym typeface="+mn-ea"/>
                        </a:rPr>
                        <a:t>Component loaded trolleys with the huge capacity were handled manually </a:t>
                      </a:r>
                      <a:endParaRPr lang="en-US" sz="18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  <a:sym typeface="+mn-ea"/>
                      </a:endParaRPr>
                    </a:p>
                  </a:txBody>
                  <a:tcPr marL="8561" marR="8561" marT="8561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IN" sz="1800" kern="1200" dirty="0">
                          <a:solidFill>
                            <a:srgbClr val="222222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Criteria to be defined for movement of the material handling trollies based on Size and total weight (including parts) to decide the material handling by a)Manual movement and </a:t>
                      </a:r>
                      <a:endParaRPr lang="en-US" altLang="en-IN" sz="1800" kern="1200" dirty="0">
                        <a:solidFill>
                          <a:srgbClr val="222222"/>
                        </a:solidFill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IN" sz="1800" kern="1200" dirty="0">
                          <a:solidFill>
                            <a:srgbClr val="222222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b)Material Handling Equipment (Forklift,Stacker,etc..)</a:t>
                      </a:r>
                      <a:endParaRPr lang="en-US" altLang="en-IN" sz="1800" kern="1200" dirty="0">
                        <a:solidFill>
                          <a:srgbClr val="222222"/>
                        </a:solidFill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561" marR="8561" marT="8561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rgbClr r="0" g="0" b="0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None/>
                      </a:pP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None/>
                      </a:pP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None/>
                      </a:pP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R.Gopu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rgbClr r="0" g="0" b="0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None/>
                      </a:pP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None/>
                      </a:pP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None/>
                      </a:pP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17.08.2024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228600" y="152400"/>
            <a:ext cx="7391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 CORRECTIVE ACTION</a:t>
            </a:r>
            <a:endParaRPr lang="en-IN" sz="2800" b="1" dirty="0">
              <a:solidFill>
                <a:schemeClr val="bg1"/>
              </a:solidFill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36855" y="968375"/>
          <a:ext cx="8669655" cy="5828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3895"/>
                <a:gridCol w="2534920"/>
                <a:gridCol w="2907030"/>
                <a:gridCol w="1251585"/>
                <a:gridCol w="1292225"/>
              </a:tblGrid>
              <a:tr h="734060"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Sl.No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Cause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 of Accident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Corrective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 Action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Resp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Target Date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35330"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Trolley is stuck on the road because of the uneven road surface during its movement</a:t>
                      </a:r>
                      <a:endParaRPr lang="en-US" sz="18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61" marR="8561" marT="85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cs typeface="Times New Roman" panose="02020603050405020304" pitchFamily="18" charset="0"/>
                        </a:rPr>
                        <a:t>Separate RCC flooring with smooth finishing to be provided in road only for trolley movement on both side of the road</a:t>
                      </a:r>
                      <a:endParaRPr lang="en-US" sz="1800" dirty="0">
                        <a:solidFill>
                          <a:srgbClr val="22222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561" marR="8561" marT="85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TVS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34695"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sz="18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No incoming inspection is done for material handling trolleys before handing over to user department </a:t>
                      </a:r>
                      <a:endParaRPr lang="en-US" sz="18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61" marR="8561" marT="85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kern="1200" dirty="0">
                          <a:solidFill>
                            <a:srgbClr val="222222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1. Incoming inspection to be done for all new material handling trolleys and storage facilities before handing over to user department(Along with FPD/EHS)</a:t>
                      </a:r>
                      <a:endParaRPr lang="en-US" sz="1800" kern="1200" dirty="0">
                        <a:solidFill>
                          <a:srgbClr val="222222"/>
                        </a:solidFill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kern="1200" dirty="0">
                          <a:solidFill>
                            <a:srgbClr val="222222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2. Handing over check sheet to be prepared and followed</a:t>
                      </a:r>
                      <a:endParaRPr lang="en-US" sz="1800" kern="1200" dirty="0">
                        <a:solidFill>
                          <a:srgbClr val="222222"/>
                        </a:solidFill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561" marR="8561" marT="85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N.Sairam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35965"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sz="18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Lack of Safety Awareness -</a:t>
                      </a:r>
                      <a:endParaRPr lang="en-US" sz="18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 fontAlgn="ctr"/>
                      <a:r>
                        <a:rPr lang="en-US" sz="18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Victim pushing the component loaded trolley</a:t>
                      </a:r>
                      <a:endParaRPr lang="en-US" sz="18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61" marR="8561" marT="85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1800" kern="1200" dirty="0">
                        <a:solidFill>
                          <a:srgbClr val="222222"/>
                        </a:solidFill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kern="1200" dirty="0">
                          <a:solidFill>
                            <a:srgbClr val="222222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Awareness should be given to all trainees on how to handle the trolleys. "Always pull the trolley, do not push it. </a:t>
                      </a:r>
                      <a:endParaRPr lang="en-US" sz="1800" kern="1200" dirty="0">
                        <a:solidFill>
                          <a:srgbClr val="222222"/>
                        </a:solidFill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561" marR="8561" marT="856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M.Rajesh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17.08.2024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 flipV="1">
            <a:off x="0" y="838200"/>
            <a:ext cx="9144000" cy="76200"/>
          </a:xfrm>
          <a:prstGeom prst="line">
            <a:avLst/>
          </a:prstGeom>
          <a:ln w="381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6477000" y="76200"/>
            <a:ext cx="2590800" cy="709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152400" y="304800"/>
            <a:ext cx="43434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Medical Treatment</a:t>
            </a:r>
            <a:endParaRPr lang="en-IN" sz="24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381000" y="1295400"/>
            <a:ext cx="7924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  <a:endParaRPr lang="en-IN" dirty="0"/>
          </a:p>
        </p:txBody>
      </p:sp>
      <p:sp>
        <p:nvSpPr>
          <p:cNvPr id="2" name="TextBox 1"/>
          <p:cNvSpPr txBox="1"/>
          <p:nvPr/>
        </p:nvSpPr>
        <p:spPr>
          <a:xfrm>
            <a:off x="228600" y="967740"/>
            <a:ext cx="8610600" cy="47358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  <p:tag name="TABLE_ENDDRAG_ORIGIN_RECT" val="682*446"/>
  <p:tag name="TABLE_ENDDRAG_RECT" val="18*76*682*446"/>
</p:tagLst>
</file>

<file path=ppt/tags/tag2.xml><?xml version="1.0" encoding="utf-8"?>
<p:tagLst xmlns:p="http://schemas.openxmlformats.org/presentationml/2006/main">
  <p:tag name="KSO_WM_BEAUTIFY_FLAG" val=""/>
  <p:tag name="TABLE_ENDDRAG_ORIGIN_RECT" val="682*446"/>
  <p:tag name="TABLE_ENDDRAG_RECT" val="18*76*682*446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3822</Words>
  <Application>WPS Presentation</Application>
  <PresentationFormat>On-screen Show (4:3)</PresentationFormat>
  <Paragraphs>199</Paragraphs>
  <Slides>8</Slides>
  <Notes>3</Notes>
  <HiddenSlides>1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9" baseType="lpstr">
      <vt:lpstr>Arial</vt:lpstr>
      <vt:lpstr>SimSun</vt:lpstr>
      <vt:lpstr>Wingdings</vt:lpstr>
      <vt:lpstr>Inter</vt:lpstr>
      <vt:lpstr>Times New Roman</vt:lpstr>
      <vt:lpstr>Calibri</vt:lpstr>
      <vt:lpstr>Microsoft YaHei</vt:lpstr>
      <vt:lpstr>Arial Unicode MS</vt:lpstr>
      <vt:lpstr>Segoe Print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Sivaraman S.</dc:creator>
  <cp:lastModifiedBy>rg.fpd</cp:lastModifiedBy>
  <cp:revision>247</cp:revision>
  <cp:lastPrinted>2024-01-26T10:04:00Z</cp:lastPrinted>
  <dcterms:created xsi:type="dcterms:W3CDTF">2006-08-16T00:00:00Z</dcterms:created>
  <dcterms:modified xsi:type="dcterms:W3CDTF">2024-08-08T07:14:31Z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CED1A5D92FAE4F67BD3A4297F35FD568_13</vt:lpwstr>
  </property>
  <property fmtid="{D5CDD505-2E9C-101B-9397-08002B2CF9AE}" pid="3" name="KSOProductBuildVer">
    <vt:lpwstr>1033-12.2.0.17153</vt:lpwstr>
  </property>
</Properties>
</file>