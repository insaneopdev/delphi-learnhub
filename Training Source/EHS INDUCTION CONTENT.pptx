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4592" r:id="rId3"/>
    <p:sldId id="4596" r:id="rId4"/>
    <p:sldId id="4598" r:id="rId5"/>
    <p:sldId id="4599" r:id="rId6"/>
    <p:sldId id="4601" r:id="rId7"/>
    <p:sldId id="4600" r:id="rId8"/>
    <p:sldId id="4602" r:id="rId9"/>
    <p:sldId id="4603" r:id="rId10"/>
    <p:sldId id="4604" r:id="rId11"/>
    <p:sldId id="4606" r:id="rId12"/>
    <p:sldId id="4605" r:id="rId13"/>
    <p:sldId id="4608" r:id="rId14"/>
    <p:sldId id="4607" r:id="rId15"/>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8687"/>
    <a:srgbClr val="FFFFFF"/>
    <a:srgbClr val="565B70"/>
    <a:srgbClr val="D2E1F4"/>
    <a:srgbClr val="0C2B68"/>
    <a:srgbClr val="88C2C3"/>
    <a:srgbClr val="0000FF"/>
    <a:srgbClr val="0259E0"/>
    <a:srgbClr val="0071B6"/>
    <a:srgbClr val="9B05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45" autoAdjust="0"/>
    <p:restoredTop sz="96247" autoAdjust="0"/>
  </p:normalViewPr>
  <p:slideViewPr>
    <p:cSldViewPr>
      <p:cViewPr>
        <p:scale>
          <a:sx n="125" d="100"/>
          <a:sy n="125" d="100"/>
        </p:scale>
        <p:origin x="1500" y="456"/>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147" d="100"/>
          <a:sy n="147" d="100"/>
        </p:scale>
        <p:origin x="148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B2C37AC4-E27D-443D-8B2C-57CC67EC7F7D}" type="datetimeFigureOut">
              <a:rPr lang="en-IN" smtClean="0"/>
              <a:t>25-12-2025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A03D461E-AED9-437A-AB26-115BB109247A}" type="slidenum">
              <a:rPr lang="en-IN" smtClean="0"/>
              <a:t>‹#›</a:t>
            </a:fld>
            <a:endParaRPr lang="en-IN"/>
          </a:p>
        </p:txBody>
      </p:sp>
    </p:spTree>
    <p:extLst>
      <p:ext uri="{BB962C8B-B14F-4D97-AF65-F5344CB8AC3E}">
        <p14:creationId xmlns:p14="http://schemas.microsoft.com/office/powerpoint/2010/main" val="261374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200" y="515112"/>
            <a:ext cx="8225155" cy="4114800"/>
          </a:xfrm>
          <a:custGeom>
            <a:avLst/>
            <a:gdLst/>
            <a:ahLst/>
            <a:cxnLst/>
            <a:rect l="l" t="t" r="r" b="b"/>
            <a:pathLst>
              <a:path w="8225155" h="4114800">
                <a:moveTo>
                  <a:pt x="8225028" y="0"/>
                </a:moveTo>
                <a:lnTo>
                  <a:pt x="0" y="0"/>
                </a:lnTo>
                <a:lnTo>
                  <a:pt x="0" y="3182620"/>
                </a:lnTo>
                <a:lnTo>
                  <a:pt x="8225028" y="4114800"/>
                </a:lnTo>
                <a:lnTo>
                  <a:pt x="8225028" y="0"/>
                </a:lnTo>
                <a:close/>
              </a:path>
            </a:pathLst>
          </a:custGeom>
          <a:ln w="76199">
            <a:solidFill>
              <a:srgbClr val="0000FF"/>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7162800" y="3920661"/>
            <a:ext cx="1431302" cy="339866"/>
          </a:xfrm>
          <a:prstGeom prst="rect">
            <a:avLst/>
          </a:prstGeom>
        </p:spPr>
      </p:pic>
      <p:sp>
        <p:nvSpPr>
          <p:cNvPr id="2" name="Holder 2"/>
          <p:cNvSpPr>
            <a:spLocks noGrp="1"/>
          </p:cNvSpPr>
          <p:nvPr>
            <p:ph type="ctrTitle"/>
          </p:nvPr>
        </p:nvSpPr>
        <p:spPr>
          <a:xfrm>
            <a:off x="673100" y="1283970"/>
            <a:ext cx="7797800" cy="53975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a:xfrm>
            <a:off x="2065908" y="4903959"/>
            <a:ext cx="4570730" cy="124460"/>
          </a:xfrm>
        </p:spPr>
        <p:txBody>
          <a:bodyPr lIns="0" tIns="0" rIns="0" bIns="0"/>
          <a:lstStyle>
            <a:lvl1pPr>
              <a:defRPr sz="700" b="0" i="1">
                <a:solidFill>
                  <a:schemeClr val="tx1"/>
                </a:solidFill>
                <a:latin typeface="Arial"/>
                <a:cs typeface="Arial"/>
              </a:defRPr>
            </a:lvl1pPr>
          </a:lstStyle>
          <a:p>
            <a:pPr marL="12700">
              <a:lnSpc>
                <a:spcPct val="100000"/>
              </a:lnSpc>
              <a:spcBef>
                <a:spcPts val="30"/>
              </a:spcBef>
            </a:pPr>
            <a:r>
              <a:rPr sz="600" spc="-5" dirty="0"/>
              <a:t>Delphi-TVS</a:t>
            </a:r>
            <a:r>
              <a:rPr sz="600" spc="25" dirty="0"/>
              <a:t> </a:t>
            </a:r>
            <a:r>
              <a:rPr sz="600" spc="-5" dirty="0"/>
              <a:t>Confidential</a:t>
            </a:r>
            <a:r>
              <a:rPr sz="600" spc="45" dirty="0"/>
              <a:t> </a:t>
            </a:r>
            <a:r>
              <a:rPr spc="-5" dirty="0"/>
              <a:t>Controlled</a:t>
            </a:r>
            <a:r>
              <a:rPr spc="20" dirty="0"/>
              <a:t> </a:t>
            </a:r>
            <a:r>
              <a:rPr spc="-5" dirty="0"/>
              <a:t>Copy</a:t>
            </a:r>
            <a:r>
              <a:rPr spc="15" dirty="0"/>
              <a:t> </a:t>
            </a:r>
            <a:r>
              <a:rPr spc="-5" dirty="0"/>
              <a:t>–</a:t>
            </a:r>
            <a:r>
              <a:rPr spc="10" dirty="0"/>
              <a:t> </a:t>
            </a:r>
            <a:r>
              <a:rPr spc="-5" dirty="0"/>
              <a:t>DTVS</a:t>
            </a:r>
            <a:r>
              <a:rPr spc="5" dirty="0"/>
              <a:t> </a:t>
            </a:r>
            <a:r>
              <a:rPr spc="-5" dirty="0"/>
              <a:t>Confidential</a:t>
            </a:r>
            <a:r>
              <a:rPr spc="30" dirty="0"/>
              <a:t> </a:t>
            </a:r>
            <a:r>
              <a:rPr spc="-5" dirty="0"/>
              <a:t>–</a:t>
            </a:r>
            <a:r>
              <a:rPr spc="15" dirty="0"/>
              <a:t> </a:t>
            </a:r>
            <a:r>
              <a:rPr spc="-5" dirty="0"/>
              <a:t>Not</a:t>
            </a:r>
            <a:r>
              <a:rPr spc="10" dirty="0"/>
              <a:t> </a:t>
            </a:r>
            <a:r>
              <a:rPr spc="-5" dirty="0"/>
              <a:t>for</a:t>
            </a:r>
            <a:r>
              <a:rPr spc="30" dirty="0"/>
              <a:t> </a:t>
            </a:r>
            <a:r>
              <a:rPr spc="-5" dirty="0"/>
              <a:t>print</a:t>
            </a:r>
            <a:r>
              <a:rPr spc="20" dirty="0"/>
              <a:t> </a:t>
            </a:r>
            <a:r>
              <a:rPr spc="-5" dirty="0"/>
              <a:t>or</a:t>
            </a:r>
            <a:r>
              <a:rPr spc="20" dirty="0"/>
              <a:t> </a:t>
            </a:r>
            <a:r>
              <a:rPr spc="-5" dirty="0"/>
              <a:t>circulation</a:t>
            </a:r>
            <a:r>
              <a:rPr spc="25" dirty="0"/>
              <a:t> </a:t>
            </a:r>
            <a:r>
              <a:rPr spc="-5" dirty="0"/>
              <a:t>or</a:t>
            </a:r>
            <a:r>
              <a:rPr spc="20" dirty="0"/>
              <a:t> </a:t>
            </a:r>
            <a:r>
              <a:rPr spc="-10" dirty="0"/>
              <a:t>any</a:t>
            </a:r>
            <a:r>
              <a:rPr spc="10" dirty="0"/>
              <a:t> </a:t>
            </a:r>
            <a:r>
              <a:rPr spc="-5" dirty="0"/>
              <a:t>form</a:t>
            </a:r>
            <a:r>
              <a:rPr spc="30" dirty="0"/>
              <a:t> </a:t>
            </a:r>
            <a:r>
              <a:rPr spc="-5" dirty="0"/>
              <a:t>of</a:t>
            </a:r>
            <a:r>
              <a:rPr spc="20" dirty="0"/>
              <a:t> </a:t>
            </a:r>
            <a:r>
              <a:rPr spc="-10" dirty="0"/>
              <a:t>reproduction</a:t>
            </a:r>
            <a:r>
              <a:rPr spc="60" dirty="0"/>
              <a:t> </a:t>
            </a:r>
            <a:r>
              <a:rPr spc="-5" dirty="0"/>
              <a:t>.</a:t>
            </a:r>
            <a:endParaRPr sz="600" dirty="0"/>
          </a:p>
        </p:txBody>
      </p:sp>
      <p:sp>
        <p:nvSpPr>
          <p:cNvPr id="5" name="Holder 5"/>
          <p:cNvSpPr>
            <a:spLocks noGrp="1"/>
          </p:cNvSpPr>
          <p:nvPr>
            <p:ph type="dt" sz="half" idx="6"/>
          </p:nvPr>
        </p:nvSpPr>
        <p:spPr>
          <a:xfrm>
            <a:off x="457200" y="4312557"/>
            <a:ext cx="2103120" cy="257175"/>
          </a:xfrm>
        </p:spPr>
        <p:txBody>
          <a:bodyPr lIns="0" tIns="0" rIns="0" bIns="0"/>
          <a:lstStyle>
            <a:lvl1pPr algn="l">
              <a:defRPr>
                <a:solidFill>
                  <a:schemeClr val="tx1">
                    <a:tint val="75000"/>
                  </a:schemeClr>
                </a:solidFill>
              </a:defRPr>
            </a:lvl1pPr>
          </a:lstStyle>
          <a:p>
            <a:fld id="{9E9780A3-5137-45A1-838D-947226072880}" type="datetime1">
              <a:rPr lang="en-US" smtClean="0"/>
              <a:t>12/25/2025</a:t>
            </a:fld>
            <a:endParaRPr lang="en-US"/>
          </a:p>
        </p:txBody>
      </p:sp>
      <p:sp>
        <p:nvSpPr>
          <p:cNvPr id="6" name="Holder 6"/>
          <p:cNvSpPr>
            <a:spLocks noGrp="1"/>
          </p:cNvSpPr>
          <p:nvPr>
            <p:ph type="sldNum" sz="quarter" idx="7"/>
          </p:nvPr>
        </p:nvSpPr>
        <p:spPr>
          <a:xfrm>
            <a:off x="3962400" y="4760019"/>
            <a:ext cx="204470" cy="155575"/>
          </a:xfrm>
        </p:spPr>
        <p:txBody>
          <a:bodyPr lIns="0" tIns="0" rIns="0" bIns="0"/>
          <a:lstStyle>
            <a:lvl1pPr>
              <a:defRPr sz="900" b="0" i="0">
                <a:solidFill>
                  <a:srgbClr val="9FA0A2"/>
                </a:solidFill>
                <a:latin typeface="Arial MT"/>
                <a:cs typeface="Arial MT"/>
              </a:defRPr>
            </a:lvl1pPr>
          </a:lstStyle>
          <a:p>
            <a:pPr marL="38100">
              <a:lnSpc>
                <a:spcPct val="100000"/>
              </a:lnSpc>
              <a:spcBef>
                <a:spcPts val="3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Arial"/>
                <a:cs typeface="Arial"/>
              </a:defRPr>
            </a:lvl1pPr>
          </a:lstStyle>
          <a:p>
            <a:endParaRPr dirty="0"/>
          </a:p>
        </p:txBody>
      </p:sp>
      <p:sp>
        <p:nvSpPr>
          <p:cNvPr id="3" name="Holder 3"/>
          <p:cNvSpPr>
            <a:spLocks noGrp="1"/>
          </p:cNvSpPr>
          <p:nvPr>
            <p:ph type="body" idx="1"/>
          </p:nvPr>
        </p:nvSpPr>
        <p:spPr/>
        <p:txBody>
          <a:bodyPr lIns="0" tIns="0" rIns="0" bIns="0"/>
          <a:lstStyle>
            <a:lvl1pPr>
              <a:defRPr sz="1400" b="0" i="0">
                <a:solidFill>
                  <a:schemeClr val="tx1"/>
                </a:solidFill>
                <a:latin typeface="Arial MT"/>
                <a:cs typeface="Arial MT"/>
              </a:defRPr>
            </a:lvl1pPr>
          </a:lstStyle>
          <a:p>
            <a:endParaRPr dirty="0"/>
          </a:p>
        </p:txBody>
      </p:sp>
      <p:sp>
        <p:nvSpPr>
          <p:cNvPr id="6" name="Holder 6"/>
          <p:cNvSpPr>
            <a:spLocks noGrp="1"/>
          </p:cNvSpPr>
          <p:nvPr>
            <p:ph type="sldNum" sz="quarter" idx="7"/>
          </p:nvPr>
        </p:nvSpPr>
        <p:spPr>
          <a:xfrm>
            <a:off x="381000" y="4801679"/>
            <a:ext cx="204470" cy="153888"/>
          </a:xfrm>
          <a:noFill/>
        </p:spPr>
        <p:txBody>
          <a:bodyPr lIns="0" tIns="0" rIns="0" bIns="0"/>
          <a:lstStyle>
            <a:lvl1pPr>
              <a:defRPr sz="1000" b="1" i="0">
                <a:solidFill>
                  <a:srgbClr val="0000FF"/>
                </a:solidFill>
                <a:latin typeface="Arial MT"/>
                <a:cs typeface="Arial MT"/>
              </a:defRPr>
            </a:lvl1pPr>
          </a:lstStyle>
          <a:p>
            <a:pPr marL="38100">
              <a:spcBef>
                <a:spcPts val="30"/>
              </a:spcBef>
            </a:pPr>
            <a:fld id="{81D60167-4931-47E6-BA6A-407CBD079E47}" type="slidenum">
              <a:rPr lang="en-IN" smtClean="0"/>
              <a:pPr marL="38100">
                <a:spcBef>
                  <a:spcPts val="30"/>
                </a:spcBef>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833BDDE7-CC89-42F9-4B2B-B7D28F058253}"/>
              </a:ext>
            </a:extLst>
          </p:cNvPr>
          <p:cNvSpPr/>
          <p:nvPr userDrawn="1"/>
        </p:nvSpPr>
        <p:spPr>
          <a:xfrm>
            <a:off x="0" y="4932060"/>
            <a:ext cx="9144000" cy="230490"/>
          </a:xfrm>
          <a:prstGeom prst="roundRect">
            <a:avLst>
              <a:gd name="adj" fmla="val 253"/>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Connector 32">
            <a:extLst>
              <a:ext uri="{FF2B5EF4-FFF2-40B4-BE49-F238E27FC236}">
                <a16:creationId xmlns:a16="http://schemas.microsoft.com/office/drawing/2014/main" id="{3CCEE33C-5107-6E67-229D-B18F43B1B05B}"/>
              </a:ext>
            </a:extLst>
          </p:cNvPr>
          <p:cNvCxnSpPr/>
          <p:nvPr userDrawn="1"/>
        </p:nvCxnSpPr>
        <p:spPr>
          <a:xfrm>
            <a:off x="0" y="438150"/>
            <a:ext cx="9144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34" name="Holder 2">
            <a:extLst>
              <a:ext uri="{FF2B5EF4-FFF2-40B4-BE49-F238E27FC236}">
                <a16:creationId xmlns:a16="http://schemas.microsoft.com/office/drawing/2014/main" id="{063B534D-ACED-3C25-5328-9BF3C0D0D2B1}"/>
              </a:ext>
            </a:extLst>
          </p:cNvPr>
          <p:cNvSpPr>
            <a:spLocks noGrp="1"/>
          </p:cNvSpPr>
          <p:nvPr>
            <p:ph type="title"/>
          </p:nvPr>
        </p:nvSpPr>
        <p:spPr>
          <a:xfrm>
            <a:off x="76200" y="68818"/>
            <a:ext cx="8255000" cy="369332"/>
          </a:xfrm>
        </p:spPr>
        <p:txBody>
          <a:bodyPr lIns="0" tIns="0" rIns="0" bIns="0"/>
          <a:lstStyle>
            <a:lvl1pPr>
              <a:defRPr sz="2400" b="1" i="0">
                <a:solidFill>
                  <a:srgbClr val="0000FF"/>
                </a:solidFill>
                <a:latin typeface="Arial"/>
                <a:cs typeface="Arial"/>
              </a:defRPr>
            </a:lvl1pPr>
          </a:lstStyle>
          <a:p>
            <a:endParaRPr lang="en-IN" dirty="0"/>
          </a:p>
        </p:txBody>
      </p:sp>
      <p:sp>
        <p:nvSpPr>
          <p:cNvPr id="35" name="Holder 6">
            <a:extLst>
              <a:ext uri="{FF2B5EF4-FFF2-40B4-BE49-F238E27FC236}">
                <a16:creationId xmlns:a16="http://schemas.microsoft.com/office/drawing/2014/main" id="{CF568863-8BFC-D31D-CBDA-4155C8FFAF9A}"/>
              </a:ext>
            </a:extLst>
          </p:cNvPr>
          <p:cNvSpPr txBox="1">
            <a:spLocks/>
          </p:cNvSpPr>
          <p:nvPr userDrawn="1"/>
        </p:nvSpPr>
        <p:spPr>
          <a:xfrm>
            <a:off x="381000" y="4705349"/>
            <a:ext cx="304800" cy="153888"/>
          </a:xfrm>
          <a:prstGeom prst="rect">
            <a:avLst/>
          </a:prstGeom>
          <a:noFill/>
        </p:spPr>
        <p:txBody>
          <a:bodyPr wrap="square" lIns="0" tIns="0" rIns="0" bIns="0">
            <a:spAutoFit/>
          </a:bodyPr>
          <a:lstStyle>
            <a:defPPr>
              <a:defRPr lang="en-US"/>
            </a:defPPr>
            <a:lvl1pPr marL="0" algn="l" defTabSz="914400" rtl="0" eaLnBrk="1" latinLnBrk="0" hangingPunct="1">
              <a:defRPr sz="1000" b="1" i="0" kern="1200">
                <a:solidFill>
                  <a:srgbClr val="0000FF"/>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30"/>
              </a:spcBef>
            </a:pPr>
            <a:fld id="{81D60167-4931-47E6-BA6A-407CBD079E47}" type="slidenum">
              <a:rPr lang="en-IN" smtClean="0"/>
              <a:pPr marL="38100">
                <a:spcBef>
                  <a:spcPts val="30"/>
                </a:spcBef>
              </a:pPr>
              <a:t>‹#›</a:t>
            </a:fld>
            <a:endParaRPr lang="en-IN" dirty="0"/>
          </a:p>
        </p:txBody>
      </p:sp>
      <p:pic>
        <p:nvPicPr>
          <p:cNvPr id="36" name="bg object 16">
            <a:extLst>
              <a:ext uri="{FF2B5EF4-FFF2-40B4-BE49-F238E27FC236}">
                <a16:creationId xmlns:a16="http://schemas.microsoft.com/office/drawing/2014/main" id="{E7160FFE-4FC0-2AB9-86BB-8AC5CA86039C}"/>
              </a:ext>
            </a:extLst>
          </p:cNvPr>
          <p:cNvPicPr/>
          <p:nvPr userDrawn="1"/>
        </p:nvPicPr>
        <p:blipFill>
          <a:blip r:embed="rId2" cstate="print"/>
          <a:stretch>
            <a:fillRect/>
          </a:stretch>
        </p:blipFill>
        <p:spPr>
          <a:xfrm>
            <a:off x="7818582" y="4677959"/>
            <a:ext cx="872836" cy="20867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700" b="0" i="1">
                <a:solidFill>
                  <a:schemeClr val="tx1"/>
                </a:solidFill>
                <a:latin typeface="Arial"/>
                <a:cs typeface="Arial"/>
              </a:defRPr>
            </a:lvl1pPr>
          </a:lstStyle>
          <a:p>
            <a:pPr marL="12700">
              <a:lnSpc>
                <a:spcPct val="100000"/>
              </a:lnSpc>
              <a:spcBef>
                <a:spcPts val="30"/>
              </a:spcBef>
            </a:pPr>
            <a:r>
              <a:rPr sz="600" spc="-5" dirty="0"/>
              <a:t>Delphi-TVS</a:t>
            </a:r>
            <a:r>
              <a:rPr sz="600" spc="25" dirty="0"/>
              <a:t> </a:t>
            </a:r>
            <a:r>
              <a:rPr sz="600" spc="-5" dirty="0"/>
              <a:t>Confidential</a:t>
            </a:r>
            <a:r>
              <a:rPr sz="600" spc="45" dirty="0"/>
              <a:t> </a:t>
            </a:r>
            <a:r>
              <a:rPr spc="-5" dirty="0"/>
              <a:t>Controlled</a:t>
            </a:r>
            <a:r>
              <a:rPr spc="20" dirty="0"/>
              <a:t> </a:t>
            </a:r>
            <a:r>
              <a:rPr spc="-5" dirty="0"/>
              <a:t>Copy</a:t>
            </a:r>
            <a:r>
              <a:rPr spc="15" dirty="0"/>
              <a:t> </a:t>
            </a:r>
            <a:r>
              <a:rPr spc="-5" dirty="0"/>
              <a:t>–</a:t>
            </a:r>
            <a:r>
              <a:rPr spc="10" dirty="0"/>
              <a:t> </a:t>
            </a:r>
            <a:r>
              <a:rPr spc="-5" dirty="0"/>
              <a:t>DTVS</a:t>
            </a:r>
            <a:r>
              <a:rPr spc="5" dirty="0"/>
              <a:t> </a:t>
            </a:r>
            <a:r>
              <a:rPr spc="-5" dirty="0"/>
              <a:t>Confidential</a:t>
            </a:r>
            <a:r>
              <a:rPr spc="30" dirty="0"/>
              <a:t> </a:t>
            </a:r>
            <a:r>
              <a:rPr spc="-5" dirty="0"/>
              <a:t>–</a:t>
            </a:r>
            <a:r>
              <a:rPr spc="15" dirty="0"/>
              <a:t> </a:t>
            </a:r>
            <a:r>
              <a:rPr spc="-5" dirty="0"/>
              <a:t>Not</a:t>
            </a:r>
            <a:r>
              <a:rPr spc="10" dirty="0"/>
              <a:t> </a:t>
            </a:r>
            <a:r>
              <a:rPr spc="-5" dirty="0"/>
              <a:t>for</a:t>
            </a:r>
            <a:r>
              <a:rPr spc="30" dirty="0"/>
              <a:t> </a:t>
            </a:r>
            <a:r>
              <a:rPr spc="-5" dirty="0"/>
              <a:t>print</a:t>
            </a:r>
            <a:r>
              <a:rPr spc="20" dirty="0"/>
              <a:t> </a:t>
            </a:r>
            <a:r>
              <a:rPr spc="-5" dirty="0"/>
              <a:t>or</a:t>
            </a:r>
            <a:r>
              <a:rPr spc="20" dirty="0"/>
              <a:t> </a:t>
            </a:r>
            <a:r>
              <a:rPr spc="-5" dirty="0"/>
              <a:t>circulation</a:t>
            </a:r>
            <a:r>
              <a:rPr spc="25" dirty="0"/>
              <a:t> </a:t>
            </a:r>
            <a:r>
              <a:rPr spc="-5" dirty="0"/>
              <a:t>or</a:t>
            </a:r>
            <a:r>
              <a:rPr spc="20" dirty="0"/>
              <a:t> </a:t>
            </a:r>
            <a:r>
              <a:rPr spc="-10" dirty="0"/>
              <a:t>any</a:t>
            </a:r>
            <a:r>
              <a:rPr spc="10" dirty="0"/>
              <a:t> </a:t>
            </a:r>
            <a:r>
              <a:rPr spc="-5" dirty="0"/>
              <a:t>form</a:t>
            </a:r>
            <a:r>
              <a:rPr spc="30" dirty="0"/>
              <a:t> </a:t>
            </a:r>
            <a:r>
              <a:rPr spc="-5" dirty="0"/>
              <a:t>of</a:t>
            </a:r>
            <a:r>
              <a:rPr spc="20" dirty="0"/>
              <a:t> </a:t>
            </a:r>
            <a:r>
              <a:rPr spc="-10" dirty="0"/>
              <a:t>reproduction</a:t>
            </a:r>
            <a:r>
              <a:rPr spc="60" dirty="0"/>
              <a:t> </a:t>
            </a:r>
            <a:r>
              <a:rPr spc="-5" dirty="0"/>
              <a:t>.</a:t>
            </a:r>
            <a:endParaRPr sz="60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F38C2A08-0495-4439-94D9-B2FC20EF9100}" type="datetime1">
              <a:rPr lang="en-US" smtClean="0"/>
              <a:t>12/25/2025</a:t>
            </a:fld>
            <a:endParaRPr lang="en-US"/>
          </a:p>
        </p:txBody>
      </p:sp>
      <p:sp>
        <p:nvSpPr>
          <p:cNvPr id="7" name="Holder 7"/>
          <p:cNvSpPr>
            <a:spLocks noGrp="1"/>
          </p:cNvSpPr>
          <p:nvPr>
            <p:ph type="sldNum" sz="quarter" idx="7"/>
          </p:nvPr>
        </p:nvSpPr>
        <p:spPr/>
        <p:txBody>
          <a:bodyPr lIns="0" tIns="0" rIns="0" bIns="0"/>
          <a:lstStyle>
            <a:lvl1pPr>
              <a:defRPr sz="900" b="0" i="0">
                <a:solidFill>
                  <a:srgbClr val="9FA0A2"/>
                </a:solidFill>
                <a:latin typeface="Arial MT"/>
                <a:cs typeface="Arial MT"/>
              </a:defRPr>
            </a:lvl1pPr>
          </a:lstStyle>
          <a:p>
            <a:pPr marL="38100">
              <a:lnSpc>
                <a:spcPct val="100000"/>
              </a:lnSpc>
              <a:spcBef>
                <a:spcPts val="30"/>
              </a:spcBef>
            </a:pPr>
            <a:fld id="{81D60167-4931-47E6-BA6A-407CBD079E47}" type="slidenum">
              <a:rPr dirty="0"/>
              <a:t>‹#›</a:t>
            </a:fld>
            <a:endParaRPr dirty="0"/>
          </a:p>
        </p:txBody>
      </p:sp>
      <p:sp>
        <p:nvSpPr>
          <p:cNvPr id="8" name="Holder 4">
            <a:extLst>
              <a:ext uri="{FF2B5EF4-FFF2-40B4-BE49-F238E27FC236}">
                <a16:creationId xmlns:a16="http://schemas.microsoft.com/office/drawing/2014/main" id="{23D57452-766E-7900-F939-F97ECDB52E94}"/>
              </a:ext>
            </a:extLst>
          </p:cNvPr>
          <p:cNvSpPr txBox="1">
            <a:spLocks/>
          </p:cNvSpPr>
          <p:nvPr userDrawn="1"/>
        </p:nvSpPr>
        <p:spPr>
          <a:xfrm>
            <a:off x="2133600" y="4817236"/>
            <a:ext cx="4570730" cy="124460"/>
          </a:xfrm>
          <a:prstGeom prst="rect">
            <a:avLst/>
          </a:prstGeom>
        </p:spPr>
        <p:txBody>
          <a:bodyPr wrap="square" lIns="0" tIns="0" rIns="0" bIns="0">
            <a:spAutoFit/>
          </a:bodyPr>
          <a:lstStyle>
            <a:defPPr>
              <a:defRPr lang="en-US"/>
            </a:defPPr>
            <a:lvl1pPr marL="0" algn="l" defTabSz="914400" rtl="0" eaLnBrk="1" latinLnBrk="0" hangingPunct="1">
              <a:defRPr sz="700" b="0" i="1"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30"/>
              </a:spcBef>
            </a:pPr>
            <a:r>
              <a:rPr lang="en-US" sz="600" spc="-5" dirty="0"/>
              <a:t>Delphi-TVS</a:t>
            </a:r>
            <a:r>
              <a:rPr lang="en-US" sz="600" spc="25" dirty="0"/>
              <a:t> </a:t>
            </a:r>
            <a:r>
              <a:rPr lang="en-US" sz="600" spc="-5" dirty="0"/>
              <a:t>Confidential</a:t>
            </a:r>
            <a:r>
              <a:rPr lang="en-US" sz="600" spc="45" dirty="0"/>
              <a:t> </a:t>
            </a:r>
            <a:r>
              <a:rPr lang="en-US" spc="-5" dirty="0"/>
              <a:t>Controlled</a:t>
            </a:r>
            <a:r>
              <a:rPr lang="en-US" spc="20" dirty="0"/>
              <a:t> </a:t>
            </a:r>
            <a:r>
              <a:rPr lang="en-US" spc="-5" dirty="0"/>
              <a:t>Copy</a:t>
            </a:r>
            <a:r>
              <a:rPr lang="en-US" spc="15" dirty="0"/>
              <a:t> </a:t>
            </a:r>
            <a:r>
              <a:rPr lang="en-US" spc="-5" dirty="0"/>
              <a:t>–</a:t>
            </a:r>
            <a:r>
              <a:rPr lang="en-US" spc="10" dirty="0"/>
              <a:t> </a:t>
            </a:r>
            <a:r>
              <a:rPr lang="en-US" spc="-5" dirty="0"/>
              <a:t>DTVS</a:t>
            </a:r>
            <a:r>
              <a:rPr lang="en-US" spc="5" dirty="0"/>
              <a:t> </a:t>
            </a:r>
            <a:r>
              <a:rPr lang="en-US" spc="-5" dirty="0"/>
              <a:t>Confidential</a:t>
            </a:r>
            <a:r>
              <a:rPr lang="en-US" spc="30" dirty="0"/>
              <a:t> </a:t>
            </a:r>
            <a:r>
              <a:rPr lang="en-US" spc="-5" dirty="0"/>
              <a:t>–</a:t>
            </a:r>
            <a:r>
              <a:rPr lang="en-US" spc="15" dirty="0"/>
              <a:t> </a:t>
            </a:r>
            <a:r>
              <a:rPr lang="en-US" spc="-5" dirty="0"/>
              <a:t>Not</a:t>
            </a:r>
            <a:r>
              <a:rPr lang="en-US" spc="10" dirty="0"/>
              <a:t> </a:t>
            </a:r>
            <a:r>
              <a:rPr lang="en-US" spc="-5" dirty="0"/>
              <a:t>for</a:t>
            </a:r>
            <a:r>
              <a:rPr lang="en-US" spc="30" dirty="0"/>
              <a:t> </a:t>
            </a:r>
            <a:r>
              <a:rPr lang="en-US" spc="-5" dirty="0"/>
              <a:t>print</a:t>
            </a:r>
            <a:r>
              <a:rPr lang="en-US" spc="20" dirty="0"/>
              <a:t> </a:t>
            </a:r>
            <a:r>
              <a:rPr lang="en-US" spc="-5" dirty="0"/>
              <a:t>or</a:t>
            </a:r>
            <a:r>
              <a:rPr lang="en-US" spc="20" dirty="0"/>
              <a:t> </a:t>
            </a:r>
            <a:r>
              <a:rPr lang="en-US" spc="-5" dirty="0"/>
              <a:t>circulation</a:t>
            </a:r>
            <a:r>
              <a:rPr lang="en-US" spc="25" dirty="0"/>
              <a:t> </a:t>
            </a:r>
            <a:r>
              <a:rPr lang="en-US" spc="-5" dirty="0"/>
              <a:t>or</a:t>
            </a:r>
            <a:r>
              <a:rPr lang="en-US" spc="20" dirty="0"/>
              <a:t> </a:t>
            </a:r>
            <a:r>
              <a:rPr lang="en-US" spc="-10" dirty="0"/>
              <a:t>any</a:t>
            </a:r>
            <a:r>
              <a:rPr lang="en-US" spc="10" dirty="0"/>
              <a:t> </a:t>
            </a:r>
            <a:r>
              <a:rPr lang="en-US" spc="-5" dirty="0"/>
              <a:t>form</a:t>
            </a:r>
            <a:r>
              <a:rPr lang="en-US" spc="30" dirty="0"/>
              <a:t> </a:t>
            </a:r>
            <a:r>
              <a:rPr lang="en-US" spc="-5" dirty="0"/>
              <a:t>of</a:t>
            </a:r>
            <a:r>
              <a:rPr lang="en-US" spc="20" dirty="0"/>
              <a:t> </a:t>
            </a:r>
            <a:r>
              <a:rPr lang="en-US" spc="-10" dirty="0"/>
              <a:t>reproduction</a:t>
            </a:r>
            <a:r>
              <a:rPr lang="en-US" spc="60" dirty="0"/>
              <a:t> </a:t>
            </a:r>
            <a:r>
              <a:rPr lang="en-US" spc="-5" dirty="0"/>
              <a:t>.</a:t>
            </a:r>
            <a:endParaRPr lang="en-US" sz="600" dirty="0"/>
          </a:p>
        </p:txBody>
      </p:sp>
      <p:sp>
        <p:nvSpPr>
          <p:cNvPr id="9" name="Holder 6">
            <a:extLst>
              <a:ext uri="{FF2B5EF4-FFF2-40B4-BE49-F238E27FC236}">
                <a16:creationId xmlns:a16="http://schemas.microsoft.com/office/drawing/2014/main" id="{BF0C17A8-B1A1-377A-60B0-FA22CC6C1C6F}"/>
              </a:ext>
            </a:extLst>
          </p:cNvPr>
          <p:cNvSpPr txBox="1">
            <a:spLocks/>
          </p:cNvSpPr>
          <p:nvPr userDrawn="1"/>
        </p:nvSpPr>
        <p:spPr>
          <a:xfrm>
            <a:off x="289051" y="4801679"/>
            <a:ext cx="204470" cy="155575"/>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9FA0A2"/>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30"/>
              </a:spcBef>
            </a:pPr>
            <a:fld id="{81D60167-4931-47E6-BA6A-407CBD079E47}" type="slidenum">
              <a:rPr lang="en-IN" smtClean="0"/>
              <a:pPr marL="38100">
                <a:spcBef>
                  <a:spcPts val="30"/>
                </a:spcBef>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700" b="0" i="1">
                <a:solidFill>
                  <a:schemeClr val="tx1"/>
                </a:solidFill>
                <a:latin typeface="Arial"/>
                <a:cs typeface="Arial"/>
              </a:defRPr>
            </a:lvl1pPr>
          </a:lstStyle>
          <a:p>
            <a:pPr marL="12700">
              <a:lnSpc>
                <a:spcPct val="100000"/>
              </a:lnSpc>
              <a:spcBef>
                <a:spcPts val="30"/>
              </a:spcBef>
            </a:pPr>
            <a:r>
              <a:rPr sz="600" spc="-5" dirty="0"/>
              <a:t>Delphi-TVS</a:t>
            </a:r>
            <a:r>
              <a:rPr sz="600" spc="25" dirty="0"/>
              <a:t> </a:t>
            </a:r>
            <a:r>
              <a:rPr sz="600" spc="-5" dirty="0"/>
              <a:t>Confidential</a:t>
            </a:r>
            <a:r>
              <a:rPr sz="600" spc="45" dirty="0"/>
              <a:t> </a:t>
            </a:r>
            <a:r>
              <a:rPr spc="-5" dirty="0"/>
              <a:t>Controlled</a:t>
            </a:r>
            <a:r>
              <a:rPr spc="20" dirty="0"/>
              <a:t> </a:t>
            </a:r>
            <a:r>
              <a:rPr spc="-5" dirty="0"/>
              <a:t>Copy</a:t>
            </a:r>
            <a:r>
              <a:rPr spc="15" dirty="0"/>
              <a:t> </a:t>
            </a:r>
            <a:r>
              <a:rPr spc="-5" dirty="0"/>
              <a:t>–</a:t>
            </a:r>
            <a:r>
              <a:rPr spc="10" dirty="0"/>
              <a:t> </a:t>
            </a:r>
            <a:r>
              <a:rPr spc="-5" dirty="0"/>
              <a:t>DTVS</a:t>
            </a:r>
            <a:r>
              <a:rPr spc="5" dirty="0"/>
              <a:t> </a:t>
            </a:r>
            <a:r>
              <a:rPr spc="-5" dirty="0"/>
              <a:t>Confidential</a:t>
            </a:r>
            <a:r>
              <a:rPr spc="30" dirty="0"/>
              <a:t> </a:t>
            </a:r>
            <a:r>
              <a:rPr spc="-5" dirty="0"/>
              <a:t>–</a:t>
            </a:r>
            <a:r>
              <a:rPr spc="15" dirty="0"/>
              <a:t> </a:t>
            </a:r>
            <a:r>
              <a:rPr spc="-5" dirty="0"/>
              <a:t>Not</a:t>
            </a:r>
            <a:r>
              <a:rPr spc="10" dirty="0"/>
              <a:t> </a:t>
            </a:r>
            <a:r>
              <a:rPr spc="-5" dirty="0"/>
              <a:t>for</a:t>
            </a:r>
            <a:r>
              <a:rPr spc="30" dirty="0"/>
              <a:t> </a:t>
            </a:r>
            <a:r>
              <a:rPr spc="-5" dirty="0"/>
              <a:t>print</a:t>
            </a:r>
            <a:r>
              <a:rPr spc="20" dirty="0"/>
              <a:t> </a:t>
            </a:r>
            <a:r>
              <a:rPr spc="-5" dirty="0"/>
              <a:t>or</a:t>
            </a:r>
            <a:r>
              <a:rPr spc="20" dirty="0"/>
              <a:t> </a:t>
            </a:r>
            <a:r>
              <a:rPr spc="-5" dirty="0"/>
              <a:t>circulation</a:t>
            </a:r>
            <a:r>
              <a:rPr spc="25" dirty="0"/>
              <a:t> </a:t>
            </a:r>
            <a:r>
              <a:rPr spc="-5" dirty="0"/>
              <a:t>or</a:t>
            </a:r>
            <a:r>
              <a:rPr spc="20" dirty="0"/>
              <a:t> </a:t>
            </a:r>
            <a:r>
              <a:rPr spc="-10" dirty="0"/>
              <a:t>any</a:t>
            </a:r>
            <a:r>
              <a:rPr spc="10" dirty="0"/>
              <a:t> </a:t>
            </a:r>
            <a:r>
              <a:rPr spc="-5" dirty="0"/>
              <a:t>form</a:t>
            </a:r>
            <a:r>
              <a:rPr spc="30" dirty="0"/>
              <a:t> </a:t>
            </a:r>
            <a:r>
              <a:rPr spc="-5" dirty="0"/>
              <a:t>of</a:t>
            </a:r>
            <a:r>
              <a:rPr spc="20" dirty="0"/>
              <a:t> </a:t>
            </a:r>
            <a:r>
              <a:rPr spc="-10" dirty="0"/>
              <a:t>reproduction</a:t>
            </a:r>
            <a:r>
              <a:rPr spc="60" dirty="0"/>
              <a:t> </a:t>
            </a:r>
            <a:r>
              <a:rPr spc="-5" dirty="0"/>
              <a:t>.</a:t>
            </a:r>
            <a:endParaRPr sz="60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2228D90-6692-44B2-BF40-861F0016252D}" type="datetime1">
              <a:rPr lang="en-US" smtClean="0"/>
              <a:t>12/25/2025</a:t>
            </a:fld>
            <a:endParaRPr lang="en-US"/>
          </a:p>
        </p:txBody>
      </p:sp>
      <p:sp>
        <p:nvSpPr>
          <p:cNvPr id="5" name="Holder 5"/>
          <p:cNvSpPr>
            <a:spLocks noGrp="1"/>
          </p:cNvSpPr>
          <p:nvPr>
            <p:ph type="sldNum" sz="quarter" idx="7"/>
          </p:nvPr>
        </p:nvSpPr>
        <p:spPr/>
        <p:txBody>
          <a:bodyPr lIns="0" tIns="0" rIns="0" bIns="0"/>
          <a:lstStyle>
            <a:lvl1pPr>
              <a:defRPr sz="900" b="0" i="0">
                <a:solidFill>
                  <a:srgbClr val="9FA0A2"/>
                </a:solidFill>
                <a:latin typeface="Arial MT"/>
                <a:cs typeface="Arial MT"/>
              </a:defRPr>
            </a:lvl1pPr>
          </a:lstStyle>
          <a:p>
            <a:pPr marL="38100">
              <a:lnSpc>
                <a:spcPct val="100000"/>
              </a:lnSpc>
              <a:spcBef>
                <a:spcPts val="3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7826848" y="4760436"/>
            <a:ext cx="872836" cy="208670"/>
          </a:xfrm>
          <a:prstGeom prst="rect">
            <a:avLst/>
          </a:prstGeom>
        </p:spPr>
      </p:pic>
      <p:sp>
        <p:nvSpPr>
          <p:cNvPr id="2" name="Holder 2"/>
          <p:cNvSpPr>
            <a:spLocks noGrp="1"/>
          </p:cNvSpPr>
          <p:nvPr>
            <p:ph type="title"/>
          </p:nvPr>
        </p:nvSpPr>
        <p:spPr>
          <a:xfrm>
            <a:off x="444500" y="264033"/>
            <a:ext cx="8255000" cy="436880"/>
          </a:xfrm>
          <a:prstGeom prst="rect">
            <a:avLst/>
          </a:prstGeom>
        </p:spPr>
        <p:txBody>
          <a:bodyPr wrap="square" lIns="0" tIns="0" rIns="0" bIns="0">
            <a:spAutoFit/>
          </a:bodyPr>
          <a:lstStyle>
            <a:lvl1pPr>
              <a:defRPr sz="2700" b="1" i="0">
                <a:solidFill>
                  <a:schemeClr val="tx1"/>
                </a:solidFill>
                <a:latin typeface="Arial"/>
                <a:cs typeface="Arial"/>
              </a:defRPr>
            </a:lvl1pPr>
          </a:lstStyle>
          <a:p>
            <a:endParaRPr/>
          </a:p>
        </p:txBody>
      </p:sp>
      <p:sp>
        <p:nvSpPr>
          <p:cNvPr id="3" name="Holder 3"/>
          <p:cNvSpPr>
            <a:spLocks noGrp="1"/>
          </p:cNvSpPr>
          <p:nvPr>
            <p:ph type="body" idx="1"/>
          </p:nvPr>
        </p:nvSpPr>
        <p:spPr>
          <a:xfrm>
            <a:off x="289051" y="1393418"/>
            <a:ext cx="8565896" cy="2933065"/>
          </a:xfrm>
          <a:prstGeom prst="rect">
            <a:avLst/>
          </a:prstGeom>
        </p:spPr>
        <p:txBody>
          <a:bodyPr wrap="square" lIns="0" tIns="0" rIns="0" bIns="0">
            <a:spAutoFit/>
          </a:bodyPr>
          <a:lstStyle>
            <a:lvl1pPr>
              <a:defRPr sz="1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519480" y="4942882"/>
            <a:ext cx="4570730" cy="124460"/>
          </a:xfrm>
          <a:prstGeom prst="rect">
            <a:avLst/>
          </a:prstGeom>
        </p:spPr>
        <p:txBody>
          <a:bodyPr wrap="square" lIns="0" tIns="0" rIns="0" bIns="0">
            <a:spAutoFit/>
          </a:bodyPr>
          <a:lstStyle>
            <a:lvl1pPr>
              <a:defRPr sz="700" b="0" i="1">
                <a:solidFill>
                  <a:schemeClr val="tx1"/>
                </a:solidFill>
                <a:latin typeface="Arial"/>
                <a:cs typeface="Arial"/>
              </a:defRPr>
            </a:lvl1pPr>
          </a:lstStyle>
          <a:p>
            <a:pPr marL="12700">
              <a:lnSpc>
                <a:spcPct val="100000"/>
              </a:lnSpc>
              <a:spcBef>
                <a:spcPts val="30"/>
              </a:spcBef>
            </a:pPr>
            <a:r>
              <a:rPr sz="600" spc="-5" dirty="0"/>
              <a:t>Delphi-TVS</a:t>
            </a:r>
            <a:r>
              <a:rPr sz="600" spc="25" dirty="0"/>
              <a:t> </a:t>
            </a:r>
            <a:r>
              <a:rPr sz="600" spc="-5" dirty="0"/>
              <a:t>Confidential</a:t>
            </a:r>
            <a:r>
              <a:rPr sz="600" spc="45" dirty="0"/>
              <a:t> </a:t>
            </a:r>
            <a:r>
              <a:rPr spc="-5" dirty="0"/>
              <a:t>Controlled</a:t>
            </a:r>
            <a:r>
              <a:rPr spc="20" dirty="0"/>
              <a:t> </a:t>
            </a:r>
            <a:r>
              <a:rPr spc="-5" dirty="0"/>
              <a:t>Copy</a:t>
            </a:r>
            <a:r>
              <a:rPr spc="15" dirty="0"/>
              <a:t> </a:t>
            </a:r>
            <a:r>
              <a:rPr spc="-5" dirty="0"/>
              <a:t>–</a:t>
            </a:r>
            <a:r>
              <a:rPr spc="10" dirty="0"/>
              <a:t> </a:t>
            </a:r>
            <a:r>
              <a:rPr spc="-5" dirty="0"/>
              <a:t>DTVS</a:t>
            </a:r>
            <a:r>
              <a:rPr spc="5" dirty="0"/>
              <a:t> </a:t>
            </a:r>
            <a:r>
              <a:rPr spc="-5" dirty="0"/>
              <a:t>Confidential</a:t>
            </a:r>
            <a:r>
              <a:rPr spc="30" dirty="0"/>
              <a:t> </a:t>
            </a:r>
            <a:r>
              <a:rPr spc="-5" dirty="0"/>
              <a:t>–</a:t>
            </a:r>
            <a:r>
              <a:rPr spc="15" dirty="0"/>
              <a:t> </a:t>
            </a:r>
            <a:r>
              <a:rPr spc="-5" dirty="0"/>
              <a:t>Not</a:t>
            </a:r>
            <a:r>
              <a:rPr spc="10" dirty="0"/>
              <a:t> </a:t>
            </a:r>
            <a:r>
              <a:rPr spc="-5" dirty="0"/>
              <a:t>for</a:t>
            </a:r>
            <a:r>
              <a:rPr spc="30" dirty="0"/>
              <a:t> </a:t>
            </a:r>
            <a:r>
              <a:rPr spc="-5" dirty="0"/>
              <a:t>print</a:t>
            </a:r>
            <a:r>
              <a:rPr spc="20" dirty="0"/>
              <a:t> </a:t>
            </a:r>
            <a:r>
              <a:rPr spc="-5" dirty="0"/>
              <a:t>or</a:t>
            </a:r>
            <a:r>
              <a:rPr spc="20" dirty="0"/>
              <a:t> </a:t>
            </a:r>
            <a:r>
              <a:rPr spc="-5" dirty="0"/>
              <a:t>circulation</a:t>
            </a:r>
            <a:r>
              <a:rPr spc="25" dirty="0"/>
              <a:t> </a:t>
            </a:r>
            <a:r>
              <a:rPr spc="-5" dirty="0"/>
              <a:t>or</a:t>
            </a:r>
            <a:r>
              <a:rPr spc="20" dirty="0"/>
              <a:t> </a:t>
            </a:r>
            <a:r>
              <a:rPr spc="-10" dirty="0"/>
              <a:t>any</a:t>
            </a:r>
            <a:r>
              <a:rPr spc="10" dirty="0"/>
              <a:t> </a:t>
            </a:r>
            <a:r>
              <a:rPr spc="-5" dirty="0"/>
              <a:t>form</a:t>
            </a:r>
            <a:r>
              <a:rPr spc="30" dirty="0"/>
              <a:t> </a:t>
            </a:r>
            <a:r>
              <a:rPr spc="-5" dirty="0"/>
              <a:t>of</a:t>
            </a:r>
            <a:r>
              <a:rPr spc="20" dirty="0"/>
              <a:t> </a:t>
            </a:r>
            <a:r>
              <a:rPr spc="-10" dirty="0"/>
              <a:t>reproduction</a:t>
            </a:r>
            <a:r>
              <a:rPr spc="60" dirty="0"/>
              <a:t> </a:t>
            </a:r>
            <a:r>
              <a:rPr spc="-5" dirty="0"/>
              <a:t>.</a:t>
            </a:r>
            <a:endParaRPr sz="600"/>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02AF4B6D-A564-4B23-AFC5-E50A3B1B59CA}" type="datetime1">
              <a:rPr lang="en-US" smtClean="0"/>
              <a:t>12/25/2025</a:t>
            </a:fld>
            <a:endParaRPr lang="en-US"/>
          </a:p>
        </p:txBody>
      </p:sp>
      <p:sp>
        <p:nvSpPr>
          <p:cNvPr id="6" name="Holder 6"/>
          <p:cNvSpPr>
            <a:spLocks noGrp="1"/>
          </p:cNvSpPr>
          <p:nvPr>
            <p:ph type="sldNum" sz="quarter" idx="7"/>
          </p:nvPr>
        </p:nvSpPr>
        <p:spPr>
          <a:xfrm>
            <a:off x="4146803" y="4810614"/>
            <a:ext cx="204470" cy="155575"/>
          </a:xfrm>
          <a:prstGeom prst="rect">
            <a:avLst/>
          </a:prstGeom>
        </p:spPr>
        <p:txBody>
          <a:bodyPr wrap="square" lIns="0" tIns="0" rIns="0" bIns="0">
            <a:spAutoFit/>
          </a:bodyPr>
          <a:lstStyle>
            <a:lvl1pPr>
              <a:defRPr sz="900" b="0" i="0">
                <a:solidFill>
                  <a:srgbClr val="9FA0A2"/>
                </a:solidFill>
                <a:latin typeface="Arial MT"/>
                <a:cs typeface="Arial MT"/>
              </a:defRPr>
            </a:lvl1pPr>
          </a:lstStyle>
          <a:p>
            <a:pPr marL="38100">
              <a:lnSpc>
                <a:spcPct val="100000"/>
              </a:lnSpc>
              <a:spcBef>
                <a:spcPts val="3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5" r:id="rId3"/>
    <p:sldLayoutId id="2147483663" r:id="rId4"/>
    <p:sldLayoutId id="2147483664"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19100" y="477012"/>
            <a:ext cx="8301355" cy="4191000"/>
            <a:chOff x="419100" y="477012"/>
            <a:chExt cx="8301355" cy="4191000"/>
          </a:xfrm>
        </p:grpSpPr>
        <p:sp>
          <p:nvSpPr>
            <p:cNvPr id="3" name="object 3"/>
            <p:cNvSpPr/>
            <p:nvPr/>
          </p:nvSpPr>
          <p:spPr>
            <a:xfrm>
              <a:off x="457200" y="515112"/>
              <a:ext cx="8225155" cy="4114800"/>
            </a:xfrm>
            <a:custGeom>
              <a:avLst/>
              <a:gdLst/>
              <a:ahLst/>
              <a:cxnLst/>
              <a:rect l="l" t="t" r="r" b="b"/>
              <a:pathLst>
                <a:path w="8225155" h="4114800">
                  <a:moveTo>
                    <a:pt x="8225028" y="0"/>
                  </a:moveTo>
                  <a:lnTo>
                    <a:pt x="0" y="0"/>
                  </a:lnTo>
                  <a:lnTo>
                    <a:pt x="0" y="3182620"/>
                  </a:lnTo>
                  <a:lnTo>
                    <a:pt x="8225028" y="4114800"/>
                  </a:lnTo>
                  <a:lnTo>
                    <a:pt x="8225028" y="0"/>
                  </a:lnTo>
                  <a:close/>
                </a:path>
              </a:pathLst>
            </a:custGeom>
            <a:ln w="76199">
              <a:solidFill>
                <a:srgbClr val="0000FF"/>
              </a:solidFill>
            </a:ln>
          </p:spPr>
          <p:txBody>
            <a:bodyPr wrap="square" lIns="0" tIns="0" rIns="0" bIns="0" rtlCol="0"/>
            <a:lstStyle/>
            <a:p>
              <a:endParaRPr/>
            </a:p>
          </p:txBody>
        </p:sp>
        <p:pic>
          <p:nvPicPr>
            <p:cNvPr id="4" name="object 4"/>
            <p:cNvPicPr/>
            <p:nvPr/>
          </p:nvPicPr>
          <p:blipFill>
            <a:blip r:embed="rId2" cstate="print"/>
            <a:stretch>
              <a:fillRect/>
            </a:stretch>
          </p:blipFill>
          <p:spPr>
            <a:xfrm>
              <a:off x="7141270" y="3963183"/>
              <a:ext cx="1431302" cy="339866"/>
            </a:xfrm>
            <a:prstGeom prst="rect">
              <a:avLst/>
            </a:prstGeom>
          </p:spPr>
        </p:pic>
      </p:grpSp>
      <p:sp>
        <p:nvSpPr>
          <p:cNvPr id="6" name="object 6"/>
          <p:cNvSpPr txBox="1">
            <a:spLocks noGrp="1"/>
          </p:cNvSpPr>
          <p:nvPr>
            <p:ph type="ftr" sz="quarter" idx="4294967295"/>
          </p:nvPr>
        </p:nvSpPr>
        <p:spPr>
          <a:xfrm>
            <a:off x="1676400" y="4857750"/>
            <a:ext cx="4966920" cy="111569"/>
          </a:xfrm>
          <a:prstGeom prst="rect">
            <a:avLst/>
          </a:prstGeom>
        </p:spPr>
        <p:txBody>
          <a:bodyPr vert="horz" wrap="square" lIns="0" tIns="3810" rIns="0" bIns="0" rtlCol="0">
            <a:spAutoFit/>
          </a:bodyPr>
          <a:lstStyle/>
          <a:p>
            <a:pPr marL="12700">
              <a:lnSpc>
                <a:spcPct val="100000"/>
              </a:lnSpc>
              <a:spcBef>
                <a:spcPts val="30"/>
              </a:spcBef>
            </a:pPr>
            <a:r>
              <a:rPr lang="en-US" spc="-5" dirty="0"/>
              <a:t>Delphi-TVS Confidential Controlled Copy – DTVS Confidential – Not for print or circulation or any form of reproduction .</a:t>
            </a:r>
            <a:endParaRPr sz="600" dirty="0"/>
          </a:p>
        </p:txBody>
      </p:sp>
      <p:sp>
        <p:nvSpPr>
          <p:cNvPr id="20" name="TextBox 19">
            <a:extLst>
              <a:ext uri="{FF2B5EF4-FFF2-40B4-BE49-F238E27FC236}">
                <a16:creationId xmlns:a16="http://schemas.microsoft.com/office/drawing/2014/main" id="{0CB034B8-E179-18DC-4980-D0459493E5F8}"/>
              </a:ext>
            </a:extLst>
          </p:cNvPr>
          <p:cNvSpPr txBox="1"/>
          <p:nvPr/>
        </p:nvSpPr>
        <p:spPr>
          <a:xfrm>
            <a:off x="1702526" y="1531262"/>
            <a:ext cx="6019800" cy="707886"/>
          </a:xfrm>
          <a:prstGeom prst="rect">
            <a:avLst/>
          </a:prstGeom>
          <a:noFill/>
        </p:spPr>
        <p:txBody>
          <a:bodyPr wrap="square">
            <a:spAutoFit/>
          </a:bodyPr>
          <a:lstStyle/>
          <a:p>
            <a:pPr algn="ctr"/>
            <a:r>
              <a:rPr lang="en-IN" sz="4000" b="1" dirty="0">
                <a:solidFill>
                  <a:srgbClr val="002060"/>
                </a:solidFill>
              </a:rPr>
              <a:t>EHS TRAINING MODULE</a:t>
            </a:r>
          </a:p>
        </p:txBody>
      </p:sp>
      <p:sp>
        <p:nvSpPr>
          <p:cNvPr id="22" name="Slide Number Placeholder 20">
            <a:extLst>
              <a:ext uri="{FF2B5EF4-FFF2-40B4-BE49-F238E27FC236}">
                <a16:creationId xmlns:a16="http://schemas.microsoft.com/office/drawing/2014/main" id="{8447E695-04E4-86C5-3044-ECBDB1439E99}"/>
              </a:ext>
            </a:extLst>
          </p:cNvPr>
          <p:cNvSpPr txBox="1">
            <a:spLocks/>
          </p:cNvSpPr>
          <p:nvPr/>
        </p:nvSpPr>
        <p:spPr>
          <a:xfrm>
            <a:off x="289051" y="4801679"/>
            <a:ext cx="204470" cy="155575"/>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9FA0A2"/>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spcBef>
                <a:spcPts val="30"/>
              </a:spcBef>
            </a:pPr>
            <a:fld id="{81D60167-4931-47E6-BA6A-407CBD079E47}" type="slidenum">
              <a:rPr lang="en-IN" smtClean="0"/>
              <a:pPr marL="38100">
                <a:spcBef>
                  <a:spcPts val="30"/>
                </a:spcBef>
              </a:pPr>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2D39-3397-A538-01EE-19941C743C2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1575768-58F9-3FC8-B7E8-BE7FE1BA8333}"/>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D0D21731-6651-B7D4-B34B-6CC8C1B07E18}"/>
              </a:ext>
            </a:extLst>
          </p:cNvPr>
          <p:cNvSpPr/>
          <p:nvPr/>
        </p:nvSpPr>
        <p:spPr>
          <a:xfrm>
            <a:off x="190500" y="67541"/>
            <a:ext cx="39243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1 - GENERAL SAFETY - CONTENT </a:t>
            </a:r>
          </a:p>
        </p:txBody>
      </p:sp>
      <p:sp>
        <p:nvSpPr>
          <p:cNvPr id="5" name="Rectangle: Rounded Corners 4">
            <a:extLst>
              <a:ext uri="{FF2B5EF4-FFF2-40B4-BE49-F238E27FC236}">
                <a16:creationId xmlns:a16="http://schemas.microsoft.com/office/drawing/2014/main" id="{1E27D200-EC5C-0D0D-FD78-D2AD8F2C556F}"/>
              </a:ext>
            </a:extLst>
          </p:cNvPr>
          <p:cNvSpPr/>
          <p:nvPr/>
        </p:nvSpPr>
        <p:spPr>
          <a:xfrm>
            <a:off x="190500" y="590550"/>
            <a:ext cx="8763000" cy="40386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DTVS EHS POLICY</a:t>
            </a:r>
          </a:p>
          <a:p>
            <a:pPr marL="1200150" lvl="2"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Have to show the DTVS EHS Policy, highlighting the key commitments of the organization (</a:t>
            </a:r>
            <a:r>
              <a:rPr lang="en-IN" sz="1400" b="1" dirty="0"/>
              <a:t>Safe &amp; Healthy Workplace</a:t>
            </a:r>
            <a:r>
              <a:rPr lang="en-IN" sz="1400" dirty="0"/>
              <a:t> , </a:t>
            </a:r>
            <a:r>
              <a:rPr lang="en-IN" sz="1400" b="1" dirty="0"/>
              <a:t>Environmental Protection, 5R, Employee engagement, Continual improvement</a:t>
            </a:r>
            <a:r>
              <a:rPr lang="en-US" sz="1400" b="1" dirty="0"/>
              <a:t>) </a:t>
            </a:r>
            <a:r>
              <a:rPr lang="en-US" sz="1400" dirty="0"/>
              <a:t>&amp; EHS policy requirements - what is expected from everyone (</a:t>
            </a:r>
            <a:r>
              <a:rPr lang="en-US" sz="1400" b="1" dirty="0"/>
              <a:t>Maintaining a safe workplace, Environment impact reduction in all daily activities by 5R, Active Participation)</a:t>
            </a:r>
          </a:p>
          <a:p>
            <a:pPr marL="1200150" lvl="2"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Actual photographs of the EHS policy display boards placed in shop-floor locations to be shown to reinforce the culture and </a:t>
            </a:r>
            <a:r>
              <a:rPr lang="en-US" sz="1400" b="1" dirty="0"/>
              <a:t>Purpose of display </a:t>
            </a:r>
            <a:r>
              <a:rPr lang="en-US" sz="1400" dirty="0"/>
              <a:t>to be shown – </a:t>
            </a:r>
            <a:r>
              <a:rPr lang="en-US" sz="1400" b="1" dirty="0"/>
              <a:t>(Daily reinforcement of safety commitment , </a:t>
            </a:r>
            <a:r>
              <a:rPr lang="en-IN" sz="1400" b="1" dirty="0"/>
              <a:t>Easy visibility and recall, Creating awareness)</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 </a:t>
            </a:r>
            <a:r>
              <a:rPr lang="en-US" sz="1400" b="1" dirty="0"/>
              <a:t>SAFETY CULTURE CONCEPTS TO SHARE   </a:t>
            </a:r>
            <a:r>
              <a:rPr lang="en-US" sz="1400" dirty="0"/>
              <a:t>- Visual Representations</a:t>
            </a:r>
          </a:p>
          <a:p>
            <a:pPr marL="1200150" lvl="2"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Safety is everyone’s responsibility</a:t>
            </a:r>
          </a:p>
          <a:p>
            <a:pPr marL="1200150" lvl="2"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Safety First – Always &amp; </a:t>
            </a:r>
            <a:r>
              <a:rPr lang="en-US" sz="1400" dirty="0"/>
              <a:t>Our Aim - Zero Accident </a:t>
            </a:r>
            <a:endParaRPr lang="en-IN" sz="1400" dirty="0"/>
          </a:p>
          <a:p>
            <a:pPr marL="1200150" lvl="2"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Think Before You Act</a:t>
            </a:r>
            <a:endParaRPr lang="en-US" sz="1400" dirty="0"/>
          </a:p>
          <a:p>
            <a:pPr marL="276225"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US" sz="1400" b="1" dirty="0"/>
              <a:t>10 RULES FOR WORKPLACE SAFETY </a:t>
            </a:r>
            <a:r>
              <a:rPr lang="en-US" sz="1400" dirty="0"/>
              <a:t>– Generic visuals &amp; Videos</a:t>
            </a:r>
          </a:p>
          <a:p>
            <a:pPr marL="276225"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US" sz="1400" b="1" dirty="0"/>
              <a:t>ROLES AND RESPONSIBILITIES IN SAFETY &amp; IMPORTANCE OF SAFETY AT WORKPLACE </a:t>
            </a:r>
            <a:r>
              <a:rPr lang="en-US" sz="1400" dirty="0"/>
              <a:t>– Generic visuals </a:t>
            </a:r>
          </a:p>
          <a:p>
            <a:pPr marL="1200150" lvl="2"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Follow Safety Rules and Instructions, Work Only After Proper Training and Authorization, Report Unsafe Conditions and Hazards, Report Accidents and Near Misses Immediately, Maintain Cleanliness and Housekeeping, Follow Emergency Procedures and Evacuation Plans, Cooperate in Safety Training and Toolbox Talks</a:t>
            </a:r>
          </a:p>
        </p:txBody>
      </p:sp>
    </p:spTree>
    <p:extLst>
      <p:ext uri="{BB962C8B-B14F-4D97-AF65-F5344CB8AC3E}">
        <p14:creationId xmlns:p14="http://schemas.microsoft.com/office/powerpoint/2010/main" val="2301535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28369-6808-9B74-AA76-9CA8762BFFF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2570A03-7307-83DC-A919-71D44496CD19}"/>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AFD32653-F3C9-DA81-1648-EBB99C09CB80}"/>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2  - WORKPLACE HAZARDS - CONTENT </a:t>
            </a:r>
          </a:p>
        </p:txBody>
      </p:sp>
      <p:sp>
        <p:nvSpPr>
          <p:cNvPr id="5" name="Rectangle: Rounded Corners 4">
            <a:extLst>
              <a:ext uri="{FF2B5EF4-FFF2-40B4-BE49-F238E27FC236}">
                <a16:creationId xmlns:a16="http://schemas.microsoft.com/office/drawing/2014/main" id="{9911087A-74EA-35E3-FA1A-1AA15918CFEA}"/>
              </a:ext>
            </a:extLst>
          </p:cNvPr>
          <p:cNvSpPr/>
          <p:nvPr/>
        </p:nvSpPr>
        <p:spPr>
          <a:xfrm>
            <a:off x="190500" y="590550"/>
            <a:ext cx="8763000" cy="28956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INDUSTRIAL HAZARDS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Definition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Type of Industrial Hazards – Visuals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Hazards a Comparison - </a:t>
            </a:r>
            <a:r>
              <a:rPr lang="en-US" sz="1400" dirty="0"/>
              <a:t>At Home vs Industry</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How To Handle It </a:t>
            </a:r>
            <a:r>
              <a:rPr lang="en-IN" sz="1400" b="1" dirty="0"/>
              <a:t>- </a:t>
            </a:r>
            <a:r>
              <a:rPr lang="en-US" sz="1400" b="1" dirty="0"/>
              <a:t>Identify → Assess → Control → Practice → Report</a:t>
            </a:r>
            <a:r>
              <a:rPr lang="en-US" sz="1400" dirty="0"/>
              <a:t>  -  5 Steps Visuals</a:t>
            </a:r>
            <a:endParaRPr lang="en-IN" sz="1400" b="1"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endParaRPr lang="en-IN" sz="1400" b="1" dirty="0"/>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ACCIDENTS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Definition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How Accidents Happening In Manufacturing &amp; Daily Life – Common Overview</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Heinrich’s TRIANGLE</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Cause For Accidents – UNSAFE CONDITION &amp; UNSAFE ACT  </a:t>
            </a:r>
          </a:p>
        </p:txBody>
      </p:sp>
    </p:spTree>
    <p:extLst>
      <p:ext uri="{BB962C8B-B14F-4D97-AF65-F5344CB8AC3E}">
        <p14:creationId xmlns:p14="http://schemas.microsoft.com/office/powerpoint/2010/main" val="2727587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B7264-F509-C3CB-A3D9-2F9EA6C2B30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7233619-5E83-C13B-D1E1-10D92DA936B8}"/>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4EF7EA44-4A67-FCA0-67AF-F513528BCD0F}"/>
              </a:ext>
            </a:extLst>
          </p:cNvPr>
          <p:cNvSpPr/>
          <p:nvPr/>
        </p:nvSpPr>
        <p:spPr>
          <a:xfrm>
            <a:off x="190500" y="590550"/>
            <a:ext cx="8763000" cy="40386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UNSAFE ACT</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Definition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b="1" dirty="0"/>
              <a:t>Real-life Sample video to be shown - </a:t>
            </a:r>
            <a:r>
              <a:rPr lang="en-US" sz="1400" dirty="0"/>
              <a:t>Accidents related to unsafe conditions</a:t>
            </a:r>
            <a:endParaRPr lang="en-IN"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Examples - </a:t>
            </a:r>
            <a:r>
              <a:rPr lang="en-US" sz="1400" dirty="0"/>
              <a:t> Not following Safety rules, Not following operating procedures, Operating un authorized Machines,  Bypassing safety systems,  Not using proper PPE, Disturbing others while working,  Playing in the working areas  - Visuals &amp; Videos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Real example of an accident happened in accident caused by an unsafe act to be shown each example (Shown below) </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b="1" dirty="0"/>
              <a:t>Unsafe Act Audits</a:t>
            </a:r>
            <a:r>
              <a:rPr lang="en-US" sz="1400" dirty="0"/>
              <a:t> are conducted by safety officers, line supervisors, managers, and external auditors, who observe employees and if any unsafe act is seen , actions are taken as per sop of reaction plans of USA</a:t>
            </a:r>
          </a:p>
          <a:p>
            <a:pPr lvl="1" algn="just" defTabSz="882650" eaLnBrk="0" fontAlgn="base" hangingPunct="0">
              <a:lnSpc>
                <a:spcPct val="88000"/>
              </a:lnSpc>
              <a:spcBef>
                <a:spcPct val="30000"/>
              </a:spcBef>
              <a:spcAft>
                <a:spcPct val="0"/>
              </a:spcAft>
              <a:buClr>
                <a:schemeClr val="tx1"/>
              </a:buClr>
              <a:buSzPct val="75000"/>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IN"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endParaRPr lang="en-IN" sz="1400" dirty="0"/>
          </a:p>
        </p:txBody>
      </p:sp>
      <p:pic>
        <p:nvPicPr>
          <p:cNvPr id="6" name="Picture 5" descr="A close-up of a computer screen&#10;&#10;AI-generated content may be incorrect.">
            <a:extLst>
              <a:ext uri="{FF2B5EF4-FFF2-40B4-BE49-F238E27FC236}">
                <a16:creationId xmlns:a16="http://schemas.microsoft.com/office/drawing/2014/main" id="{8E5DB0F6-63D5-39B8-06BC-64910D0A5E3A}"/>
              </a:ext>
            </a:extLst>
          </p:cNvPr>
          <p:cNvPicPr>
            <a:picLocks noChangeAspect="1"/>
          </p:cNvPicPr>
          <p:nvPr/>
        </p:nvPicPr>
        <p:blipFill>
          <a:blip r:embed="rId2"/>
          <a:stretch>
            <a:fillRect/>
          </a:stretch>
        </p:blipFill>
        <p:spPr>
          <a:xfrm>
            <a:off x="3243387" y="2876550"/>
            <a:ext cx="2395413" cy="1680210"/>
          </a:xfrm>
          <a:prstGeom prst="rect">
            <a:avLst/>
          </a:prstGeom>
        </p:spPr>
      </p:pic>
      <p:sp>
        <p:nvSpPr>
          <p:cNvPr id="7" name="Rectangle: Rounded Corners 6">
            <a:extLst>
              <a:ext uri="{FF2B5EF4-FFF2-40B4-BE49-F238E27FC236}">
                <a16:creationId xmlns:a16="http://schemas.microsoft.com/office/drawing/2014/main" id="{63417974-CE22-E55B-F459-B78781B949CD}"/>
              </a:ext>
            </a:extLst>
          </p:cNvPr>
          <p:cNvSpPr/>
          <p:nvPr/>
        </p:nvSpPr>
        <p:spPr>
          <a:xfrm>
            <a:off x="190500" y="67541"/>
            <a:ext cx="47625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2  - WORKPLACE HAZARDS – CONTENT </a:t>
            </a:r>
            <a:r>
              <a:rPr lang="en-US" sz="1200" b="1" dirty="0" err="1">
                <a:ln w="0"/>
                <a:solidFill>
                  <a:schemeClr val="tx1"/>
                </a:solidFill>
                <a:effectLst>
                  <a:outerShdw blurRad="38100" dist="19050" dir="2700000" algn="tl" rotWithShape="0">
                    <a:schemeClr val="dk1">
                      <a:alpha val="40000"/>
                    </a:schemeClr>
                  </a:outerShdw>
                </a:effectLst>
                <a:latin typeface="Arial Black" panose="020B0A04020102020204" pitchFamily="34" charset="0"/>
              </a:rPr>
              <a:t>ctd</a:t>
            </a: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 </a:t>
            </a:r>
          </a:p>
        </p:txBody>
      </p:sp>
    </p:spTree>
    <p:extLst>
      <p:ext uri="{BB962C8B-B14F-4D97-AF65-F5344CB8AC3E}">
        <p14:creationId xmlns:p14="http://schemas.microsoft.com/office/powerpoint/2010/main" val="1400082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D39C-4A3A-D79E-BB53-A103EC2342B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B21DFAE-E948-C9F9-4361-139E65D6BF3A}"/>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1CF25695-181B-8ED8-C0AF-5A5EEC8976F5}"/>
              </a:ext>
            </a:extLst>
          </p:cNvPr>
          <p:cNvSpPr/>
          <p:nvPr/>
        </p:nvSpPr>
        <p:spPr>
          <a:xfrm>
            <a:off x="190500" y="590550"/>
            <a:ext cx="8763000" cy="40386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UNSAFE CONDITION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Definition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b="1" dirty="0"/>
              <a:t>Real-life Sample video to be shown - </a:t>
            </a:r>
            <a:r>
              <a:rPr lang="en-US" sz="1400" dirty="0"/>
              <a:t>Accidents related to unsafe conditions</a:t>
            </a:r>
            <a:endParaRPr lang="en-IN"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Examples - </a:t>
            </a:r>
            <a:r>
              <a:rPr lang="en-US" sz="1400" dirty="0"/>
              <a:t> Unguarded Machines, Wet &amp; Slippery floor,  High Noise areas,  Poor lighting  &amp; Poor Ventilation,  No proper Protective Gear, Poor house keeping,  Damaged electrical cables - Visuals &amp; Videos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Real example of an accident happened in accident caused by an unsafe condition to be shown each example (Shown below) </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Unsafe condition identified through safety FLM – Document to be shown &amp; real photos for 4 to 5 points with explanation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endParaRPr lang="en-US"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endParaRPr lang="en-US"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US" sz="1400" dirty="0"/>
          </a:p>
          <a:p>
            <a:pPr lvl="1" algn="just" defTabSz="882650" eaLnBrk="0" fontAlgn="base" hangingPunct="0">
              <a:lnSpc>
                <a:spcPct val="88000"/>
              </a:lnSpc>
              <a:spcBef>
                <a:spcPct val="30000"/>
              </a:spcBef>
              <a:spcAft>
                <a:spcPct val="0"/>
              </a:spcAft>
              <a:buClr>
                <a:schemeClr val="tx1"/>
              </a:buClr>
              <a:buSzPct val="75000"/>
            </a:pPr>
            <a:endParaRPr lang="en-US"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b="1" dirty="0"/>
              <a:t>Spot the hazard picture to be shown for identification of USA &amp; USC</a:t>
            </a:r>
          </a:p>
        </p:txBody>
      </p:sp>
      <p:pic>
        <p:nvPicPr>
          <p:cNvPr id="7" name="Picture 6" descr="A couple of blue pipes&#10;&#10;AI-generated content may be incorrect.">
            <a:extLst>
              <a:ext uri="{FF2B5EF4-FFF2-40B4-BE49-F238E27FC236}">
                <a16:creationId xmlns:a16="http://schemas.microsoft.com/office/drawing/2014/main" id="{AAD0C821-A48D-10C3-490E-FB4D51864816}"/>
              </a:ext>
            </a:extLst>
          </p:cNvPr>
          <p:cNvPicPr>
            <a:picLocks noChangeAspect="1"/>
          </p:cNvPicPr>
          <p:nvPr/>
        </p:nvPicPr>
        <p:blipFill>
          <a:blip r:embed="rId2"/>
          <a:stretch>
            <a:fillRect/>
          </a:stretch>
        </p:blipFill>
        <p:spPr>
          <a:xfrm>
            <a:off x="5562600" y="2707365"/>
            <a:ext cx="2809035" cy="1373383"/>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8979AA7C-CB7B-8D73-25F4-E213AC3350F4}"/>
              </a:ext>
            </a:extLst>
          </p:cNvPr>
          <p:cNvPicPr>
            <a:picLocks noChangeAspect="1"/>
          </p:cNvPicPr>
          <p:nvPr/>
        </p:nvPicPr>
        <p:blipFill>
          <a:blip r:embed="rId3"/>
          <a:stretch>
            <a:fillRect/>
          </a:stretch>
        </p:blipFill>
        <p:spPr>
          <a:xfrm>
            <a:off x="2635801" y="2718795"/>
            <a:ext cx="1738799" cy="1245388"/>
          </a:xfrm>
          <a:prstGeom prst="rect">
            <a:avLst/>
          </a:prstGeom>
        </p:spPr>
      </p:pic>
      <p:sp>
        <p:nvSpPr>
          <p:cNvPr id="10" name="Rectangle: Rounded Corners 9">
            <a:extLst>
              <a:ext uri="{FF2B5EF4-FFF2-40B4-BE49-F238E27FC236}">
                <a16:creationId xmlns:a16="http://schemas.microsoft.com/office/drawing/2014/main" id="{41C60FB5-2767-D0D3-ED7F-5862FA8C2FA0}"/>
              </a:ext>
            </a:extLst>
          </p:cNvPr>
          <p:cNvSpPr/>
          <p:nvPr/>
        </p:nvSpPr>
        <p:spPr>
          <a:xfrm>
            <a:off x="190500" y="67541"/>
            <a:ext cx="47625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2  - WORKPLACE HAZARDS – CONTENT </a:t>
            </a:r>
            <a:r>
              <a:rPr lang="en-US" sz="1200" b="1" dirty="0" err="1">
                <a:ln w="0"/>
                <a:solidFill>
                  <a:schemeClr val="tx1"/>
                </a:solidFill>
                <a:effectLst>
                  <a:outerShdw blurRad="38100" dist="19050" dir="2700000" algn="tl" rotWithShape="0">
                    <a:schemeClr val="dk1">
                      <a:alpha val="40000"/>
                    </a:schemeClr>
                  </a:outerShdw>
                </a:effectLst>
                <a:latin typeface="Arial Black" panose="020B0A04020102020204" pitchFamily="34" charset="0"/>
              </a:rPr>
              <a:t>ctd</a:t>
            </a: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 </a:t>
            </a:r>
          </a:p>
        </p:txBody>
      </p:sp>
    </p:spTree>
    <p:extLst>
      <p:ext uri="{BB962C8B-B14F-4D97-AF65-F5344CB8AC3E}">
        <p14:creationId xmlns:p14="http://schemas.microsoft.com/office/powerpoint/2010/main" val="1839588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DB631-7FA1-1207-82D8-4741740F2A3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3011186-7BC3-3B46-7D8F-992F1454CE3A}"/>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17189A1C-6672-660C-EDC8-FB0E8F2080D3}"/>
              </a:ext>
            </a:extLst>
          </p:cNvPr>
          <p:cNvSpPr/>
          <p:nvPr/>
        </p:nvSpPr>
        <p:spPr>
          <a:xfrm>
            <a:off x="190500" y="590550"/>
            <a:ext cx="8763000" cy="22098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NEARMISS INCIDENTS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Definition</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b="1" dirty="0"/>
              <a:t>Sample videos</a:t>
            </a:r>
            <a:r>
              <a:rPr lang="en-US" sz="1400" dirty="0"/>
              <a:t> related to </a:t>
            </a:r>
            <a:r>
              <a:rPr lang="en-US" sz="1400" dirty="0" err="1"/>
              <a:t>nearmiss</a:t>
            </a:r>
            <a:r>
              <a:rPr lang="en-US" sz="1400" dirty="0"/>
              <a:t> incidents</a:t>
            </a:r>
            <a:endParaRPr lang="en-IN" sz="1400" dirty="0"/>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Real example of </a:t>
            </a:r>
            <a:r>
              <a:rPr lang="en-US" sz="1400" dirty="0" err="1"/>
              <a:t>nearmiss</a:t>
            </a:r>
            <a:r>
              <a:rPr lang="en-US" sz="1400" dirty="0"/>
              <a:t> incident happened in DTVS to be shown  in Case study format</a:t>
            </a:r>
          </a:p>
          <a:p>
            <a:pPr lvl="0" algn="just" defTabSz="882650" eaLnBrk="0" fontAlgn="base" hangingPunct="0">
              <a:lnSpc>
                <a:spcPct val="88000"/>
              </a:lnSpc>
              <a:spcBef>
                <a:spcPct val="30000"/>
              </a:spcBef>
              <a:spcAft>
                <a:spcPct val="0"/>
              </a:spcAft>
              <a:buClr>
                <a:schemeClr val="tx1"/>
              </a:buClr>
              <a:buSzPct val="75000"/>
            </a:pPr>
            <a:endParaRPr lang="en-IN" sz="1400" b="1" dirty="0"/>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US" sz="1400" b="1" dirty="0"/>
              <a:t>REPORTABLE ACCIDENT – CASE STUDY FORMAT WITH DETAILED EXPLANATION TO BE GIVEN</a:t>
            </a:r>
          </a:p>
          <a:p>
            <a:pPr lvl="0" algn="just" defTabSz="882650" eaLnBrk="0" fontAlgn="base" hangingPunct="0">
              <a:lnSpc>
                <a:spcPct val="88000"/>
              </a:lnSpc>
              <a:spcBef>
                <a:spcPct val="30000"/>
              </a:spcBef>
              <a:spcAft>
                <a:spcPct val="0"/>
              </a:spcAft>
              <a:buClr>
                <a:schemeClr val="tx1"/>
              </a:buClr>
              <a:buSzPct val="75000"/>
            </a:pPr>
            <a:endParaRPr lang="en-IN" sz="1400" b="1" dirty="0"/>
          </a:p>
        </p:txBody>
      </p:sp>
      <p:sp>
        <p:nvSpPr>
          <p:cNvPr id="10" name="Rectangle: Rounded Corners 9">
            <a:extLst>
              <a:ext uri="{FF2B5EF4-FFF2-40B4-BE49-F238E27FC236}">
                <a16:creationId xmlns:a16="http://schemas.microsoft.com/office/drawing/2014/main" id="{3FE50311-EC63-F801-F07D-B7EE663AC561}"/>
              </a:ext>
            </a:extLst>
          </p:cNvPr>
          <p:cNvSpPr/>
          <p:nvPr/>
        </p:nvSpPr>
        <p:spPr>
          <a:xfrm>
            <a:off x="190500" y="67541"/>
            <a:ext cx="47625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2  - WORKPLACE HAZARDS – CONTENT </a:t>
            </a:r>
            <a:r>
              <a:rPr lang="en-US" sz="1200" b="1" dirty="0" err="1">
                <a:ln w="0"/>
                <a:solidFill>
                  <a:schemeClr val="tx1"/>
                </a:solidFill>
                <a:effectLst>
                  <a:outerShdw blurRad="38100" dist="19050" dir="2700000" algn="tl" rotWithShape="0">
                    <a:schemeClr val="dk1">
                      <a:alpha val="40000"/>
                    </a:schemeClr>
                  </a:outerShdw>
                </a:effectLst>
                <a:latin typeface="Arial Black" panose="020B0A04020102020204" pitchFamily="34" charset="0"/>
              </a:rPr>
              <a:t>ctd</a:t>
            </a: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 </a:t>
            </a:r>
          </a:p>
        </p:txBody>
      </p:sp>
    </p:spTree>
    <p:extLst>
      <p:ext uri="{BB962C8B-B14F-4D97-AF65-F5344CB8AC3E}">
        <p14:creationId xmlns:p14="http://schemas.microsoft.com/office/powerpoint/2010/main" val="4013337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EB4C6-3BDC-F71A-4A2C-798FD289D0B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9B17418-62EB-2BBF-22A7-C3B8D48BF64E}"/>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EE909450-671A-FDF8-FC9A-E3ED4E3E46D6}"/>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3  MACHINE SAFETY - CONTENT</a:t>
            </a:r>
          </a:p>
        </p:txBody>
      </p:sp>
      <p:sp>
        <p:nvSpPr>
          <p:cNvPr id="5" name="Rectangle: Rounded Corners 4">
            <a:extLst>
              <a:ext uri="{FF2B5EF4-FFF2-40B4-BE49-F238E27FC236}">
                <a16:creationId xmlns:a16="http://schemas.microsoft.com/office/drawing/2014/main" id="{84F46BCB-35C3-6243-63BB-576201F974FE}"/>
              </a:ext>
            </a:extLst>
          </p:cNvPr>
          <p:cNvSpPr/>
          <p:nvPr/>
        </p:nvSpPr>
        <p:spPr>
          <a:xfrm>
            <a:off x="190500" y="552450"/>
            <a:ext cx="8763000" cy="23241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Safe Work Practices - </a:t>
            </a:r>
            <a:r>
              <a:rPr lang="en-IN" sz="1400" dirty="0"/>
              <a:t>Before Using a Machine safety FLM to be followed and abnormality reported , During Machine Operation – follow as per SOP, After Using a Machine -  Switch off and isolate power if required, clean the m/c and area</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b="1" dirty="0"/>
              <a:t>Safety systems in all machines &amp; its purpose – Full view of single machine - Visuals</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Double hand push button – Purpose &amp; how its operating – Actual video</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Safety curtains - Purpose &amp; how its operating – Actual video</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Interlocking system - Purpose &amp; how its operating – Actual video </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Emergency Stop Systems - Purpose &amp; how its operating – Actual video</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Machine Guarding – Purpose – Actual video </a:t>
            </a:r>
          </a:p>
        </p:txBody>
      </p:sp>
    </p:spTree>
    <p:extLst>
      <p:ext uri="{BB962C8B-B14F-4D97-AF65-F5344CB8AC3E}">
        <p14:creationId xmlns:p14="http://schemas.microsoft.com/office/powerpoint/2010/main" val="2286298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2519D-00A2-9239-C99E-B9F5D29262A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390346B-793C-2D81-8CD1-5134D2946BC1}"/>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BE801DA7-07EC-79A5-0337-0BFF4841E64E}"/>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4  PPE - CONTENT</a:t>
            </a:r>
          </a:p>
        </p:txBody>
      </p:sp>
      <p:sp>
        <p:nvSpPr>
          <p:cNvPr id="5" name="Rectangle: Rounded Corners 4">
            <a:extLst>
              <a:ext uri="{FF2B5EF4-FFF2-40B4-BE49-F238E27FC236}">
                <a16:creationId xmlns:a16="http://schemas.microsoft.com/office/drawing/2014/main" id="{BE806F22-9BB7-99B1-5DBE-BD187EF3CE79}"/>
              </a:ext>
            </a:extLst>
          </p:cNvPr>
          <p:cNvSpPr/>
          <p:nvPr/>
        </p:nvSpPr>
        <p:spPr>
          <a:xfrm>
            <a:off x="190500" y="552450"/>
            <a:ext cx="8763000" cy="15621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dirty="0"/>
              <a:t>What is PPE</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dirty="0"/>
              <a:t>PPE importance</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US" sz="1400" dirty="0"/>
              <a:t>Types of PPE and When to Use</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US" sz="1400" dirty="0"/>
              <a:t>How to Use PPE Correctly</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dirty="0"/>
              <a:t>Common Mistakes to Avoid</a:t>
            </a:r>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dirty="0"/>
              <a:t>PPE sticker provided in all machines – Actual photographs to be shown</a:t>
            </a:r>
          </a:p>
        </p:txBody>
      </p:sp>
    </p:spTree>
    <p:extLst>
      <p:ext uri="{BB962C8B-B14F-4D97-AF65-F5344CB8AC3E}">
        <p14:creationId xmlns:p14="http://schemas.microsoft.com/office/powerpoint/2010/main" val="3981057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47E2A-D023-FCD5-6D7C-91E5481EB8A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FD77703-0147-61FB-835C-ED7E16D83C09}"/>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6D4D4A50-561C-2153-77BC-73D24E61767E}"/>
              </a:ext>
            </a:extLst>
          </p:cNvPr>
          <p:cNvSpPr/>
          <p:nvPr/>
        </p:nvSpPr>
        <p:spPr>
          <a:xfrm>
            <a:off x="190500" y="67541"/>
            <a:ext cx="49911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5  EMERGENCY PREPAREDNESS&amp; FIRE SAFETY</a:t>
            </a:r>
          </a:p>
        </p:txBody>
      </p:sp>
      <p:sp>
        <p:nvSpPr>
          <p:cNvPr id="5" name="Rectangle: Rounded Corners 4">
            <a:extLst>
              <a:ext uri="{FF2B5EF4-FFF2-40B4-BE49-F238E27FC236}">
                <a16:creationId xmlns:a16="http://schemas.microsoft.com/office/drawing/2014/main" id="{042EBC2B-1AC7-9A77-8716-8458BF748FC3}"/>
              </a:ext>
            </a:extLst>
          </p:cNvPr>
          <p:cNvSpPr/>
          <p:nvPr/>
        </p:nvSpPr>
        <p:spPr>
          <a:xfrm>
            <a:off x="190500" y="552450"/>
            <a:ext cx="8763000" cy="28575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dirty="0"/>
              <a:t>Emergency preparedness followed in DTVS – Basic roles and What to do</a:t>
            </a:r>
          </a:p>
          <a:p>
            <a:pPr marL="800100" lvl="1" indent="-34290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Alarm raising</a:t>
            </a:r>
          </a:p>
          <a:p>
            <a:pPr marL="800100" lvl="1" indent="-34290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Familiarize yourself with all exit routes and assembly points.</a:t>
            </a:r>
          </a:p>
          <a:p>
            <a:pPr marL="800100" lvl="1" indent="-34290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Know how to quickly alert emergency services (</a:t>
            </a:r>
            <a:r>
              <a:rPr lang="en-US" sz="1400" dirty="0" err="1"/>
              <a:t>Emergncy</a:t>
            </a:r>
            <a:r>
              <a:rPr lang="en-US" sz="1400" dirty="0"/>
              <a:t> contact number) if needed</a:t>
            </a:r>
          </a:p>
          <a:p>
            <a:pPr marL="800100" lvl="1" indent="-34290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US" sz="1400" dirty="0"/>
              <a:t>Emergency Actions in Machine Areas</a:t>
            </a:r>
          </a:p>
          <a:p>
            <a:pPr marL="800100" lvl="1" indent="-34290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endParaRPr lang="en-IN" sz="1400" dirty="0"/>
          </a:p>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r>
              <a:rPr lang="en-IN" sz="1400" dirty="0"/>
              <a:t>Fire Safety &amp; its purpose &amp; also DO &amp; </a:t>
            </a:r>
            <a:r>
              <a:rPr lang="en-IN" sz="1400" dirty="0" err="1"/>
              <a:t>Donts</a:t>
            </a:r>
            <a:r>
              <a:rPr lang="en-IN" sz="1400" dirty="0"/>
              <a:t>– Actual photos </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Fire extinguisher</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Fire alarm system</a:t>
            </a:r>
          </a:p>
          <a:p>
            <a:pPr marL="742950" lvl="1" indent="-285750" algn="just" defTabSz="882650" eaLnBrk="0" fontAlgn="base" hangingPunct="0">
              <a:lnSpc>
                <a:spcPct val="88000"/>
              </a:lnSpc>
              <a:spcBef>
                <a:spcPct val="30000"/>
              </a:spcBef>
              <a:spcAft>
                <a:spcPct val="0"/>
              </a:spcAft>
              <a:buClr>
                <a:schemeClr val="tx1"/>
              </a:buClr>
              <a:buSzPct val="75000"/>
              <a:buFont typeface="Wingdings" panose="05000000000000000000" pitchFamily="2" charset="2"/>
              <a:buChar char="Ø"/>
            </a:pPr>
            <a:r>
              <a:rPr lang="en-IN" sz="1400" dirty="0"/>
              <a:t>Co2 flooding </a:t>
            </a:r>
          </a:p>
        </p:txBody>
      </p:sp>
    </p:spTree>
    <p:extLst>
      <p:ext uri="{BB962C8B-B14F-4D97-AF65-F5344CB8AC3E}">
        <p14:creationId xmlns:p14="http://schemas.microsoft.com/office/powerpoint/2010/main" val="1339645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21A7F-38B7-D139-504D-EBB1A504A4A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6075A74-25A7-27E7-F42C-31B58A659E9C}"/>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842F1E1D-2B66-BB9C-4EC4-3D004B00F216}"/>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6 MATERIAL HANDLING </a:t>
            </a:r>
          </a:p>
        </p:txBody>
      </p:sp>
      <p:sp>
        <p:nvSpPr>
          <p:cNvPr id="5" name="Rectangle: Rounded Corners 4">
            <a:extLst>
              <a:ext uri="{FF2B5EF4-FFF2-40B4-BE49-F238E27FC236}">
                <a16:creationId xmlns:a16="http://schemas.microsoft.com/office/drawing/2014/main" id="{542E6690-0420-CCEF-D0A4-CD376C1D2CD2}"/>
              </a:ext>
            </a:extLst>
          </p:cNvPr>
          <p:cNvSpPr/>
          <p:nvPr/>
        </p:nvSpPr>
        <p:spPr>
          <a:xfrm>
            <a:off x="190500" y="552450"/>
            <a:ext cx="8763000" cy="28575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endParaRPr lang="en-IN" sz="1400" dirty="0"/>
          </a:p>
        </p:txBody>
      </p:sp>
    </p:spTree>
    <p:extLst>
      <p:ext uri="{BB962C8B-B14F-4D97-AF65-F5344CB8AC3E}">
        <p14:creationId xmlns:p14="http://schemas.microsoft.com/office/powerpoint/2010/main" val="2052071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6C1B-0C2E-DD63-426A-4259F272AA9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0413368-4FD4-2B90-F1F9-03C765E0F853}"/>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A4FBC050-7301-18A6-87F6-FD7FC001125C}"/>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7 ELECTRICAL SAFETY</a:t>
            </a:r>
          </a:p>
        </p:txBody>
      </p:sp>
      <p:sp>
        <p:nvSpPr>
          <p:cNvPr id="5" name="Rectangle: Rounded Corners 4">
            <a:extLst>
              <a:ext uri="{FF2B5EF4-FFF2-40B4-BE49-F238E27FC236}">
                <a16:creationId xmlns:a16="http://schemas.microsoft.com/office/drawing/2014/main" id="{EAE5674C-4D4A-4B88-D71C-99090B654EC9}"/>
              </a:ext>
            </a:extLst>
          </p:cNvPr>
          <p:cNvSpPr/>
          <p:nvPr/>
        </p:nvSpPr>
        <p:spPr>
          <a:xfrm>
            <a:off x="190500" y="552450"/>
            <a:ext cx="8763000" cy="28575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endParaRPr lang="en-IN" sz="1400" dirty="0"/>
          </a:p>
        </p:txBody>
      </p:sp>
    </p:spTree>
    <p:extLst>
      <p:ext uri="{BB962C8B-B14F-4D97-AF65-F5344CB8AC3E}">
        <p14:creationId xmlns:p14="http://schemas.microsoft.com/office/powerpoint/2010/main" val="4283652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61CB2-069A-3BA8-0C57-7875DCE0F33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91C6650-ABFF-D8AF-9897-B93CEAD48BEF}"/>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6D3E4288-A6C6-32E2-971E-C56D0BE2691E}"/>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8 CHEMICAL HANDLING </a:t>
            </a:r>
          </a:p>
        </p:txBody>
      </p:sp>
      <p:sp>
        <p:nvSpPr>
          <p:cNvPr id="5" name="Rectangle: Rounded Corners 4">
            <a:extLst>
              <a:ext uri="{FF2B5EF4-FFF2-40B4-BE49-F238E27FC236}">
                <a16:creationId xmlns:a16="http://schemas.microsoft.com/office/drawing/2014/main" id="{9C3CC99A-89E5-C77D-7BDC-F2B5086BCA58}"/>
              </a:ext>
            </a:extLst>
          </p:cNvPr>
          <p:cNvSpPr/>
          <p:nvPr/>
        </p:nvSpPr>
        <p:spPr>
          <a:xfrm>
            <a:off x="190500" y="552450"/>
            <a:ext cx="8763000" cy="28575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endParaRPr lang="en-IN" sz="1400" dirty="0"/>
          </a:p>
        </p:txBody>
      </p:sp>
    </p:spTree>
    <p:extLst>
      <p:ext uri="{BB962C8B-B14F-4D97-AF65-F5344CB8AC3E}">
        <p14:creationId xmlns:p14="http://schemas.microsoft.com/office/powerpoint/2010/main" val="160916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A677-88D9-C3F2-1933-D47F7BA386A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56346D7-1666-B9E8-92EF-5720A064973B}"/>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27E29FFA-DED0-11A2-4FA3-0E0A95FB1BCB}"/>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9 SAFETY SIGNAGES</a:t>
            </a:r>
          </a:p>
        </p:txBody>
      </p:sp>
      <p:sp>
        <p:nvSpPr>
          <p:cNvPr id="5" name="Rectangle: Rounded Corners 4">
            <a:extLst>
              <a:ext uri="{FF2B5EF4-FFF2-40B4-BE49-F238E27FC236}">
                <a16:creationId xmlns:a16="http://schemas.microsoft.com/office/drawing/2014/main" id="{517E5EEE-96B8-3910-7D8F-D6763E08FE3A}"/>
              </a:ext>
            </a:extLst>
          </p:cNvPr>
          <p:cNvSpPr/>
          <p:nvPr/>
        </p:nvSpPr>
        <p:spPr>
          <a:xfrm>
            <a:off x="190500" y="552450"/>
            <a:ext cx="8763000" cy="28575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endParaRPr lang="en-IN" sz="1400" dirty="0"/>
          </a:p>
        </p:txBody>
      </p:sp>
    </p:spTree>
    <p:extLst>
      <p:ext uri="{BB962C8B-B14F-4D97-AF65-F5344CB8AC3E}">
        <p14:creationId xmlns:p14="http://schemas.microsoft.com/office/powerpoint/2010/main" val="4110177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7343C-04C2-CD36-B96D-01DC6E42A97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5EF02EA-6860-E849-E13F-B74C464354BC}"/>
              </a:ext>
            </a:extLst>
          </p:cNvPr>
          <p:cNvSpPr/>
          <p:nvPr/>
        </p:nvSpPr>
        <p:spPr>
          <a:xfrm>
            <a:off x="0" y="0"/>
            <a:ext cx="9144000" cy="41910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400" b="1" dirty="0">
              <a:solidFill>
                <a:srgbClr val="0000FF"/>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F53A9BBD-77C1-024D-C35F-AE7ED822E225}"/>
              </a:ext>
            </a:extLst>
          </p:cNvPr>
          <p:cNvSpPr/>
          <p:nvPr/>
        </p:nvSpPr>
        <p:spPr>
          <a:xfrm>
            <a:off x="190500" y="67541"/>
            <a:ext cx="4076700" cy="284018"/>
          </a:xfrm>
          <a:prstGeom prst="roundRect">
            <a:avLst>
              <a:gd name="adj" fmla="val 12753"/>
            </a:avLst>
          </a:prstGeom>
          <a:ln>
            <a:no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200" b="1"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TITLE 10 ENVIRONMENT &amp; SUSTAINIBILITY</a:t>
            </a:r>
          </a:p>
        </p:txBody>
      </p:sp>
      <p:sp>
        <p:nvSpPr>
          <p:cNvPr id="5" name="Rectangle: Rounded Corners 4">
            <a:extLst>
              <a:ext uri="{FF2B5EF4-FFF2-40B4-BE49-F238E27FC236}">
                <a16:creationId xmlns:a16="http://schemas.microsoft.com/office/drawing/2014/main" id="{85F4064C-BFFE-ABED-5369-79FAFDF08DEC}"/>
              </a:ext>
            </a:extLst>
          </p:cNvPr>
          <p:cNvSpPr/>
          <p:nvPr/>
        </p:nvSpPr>
        <p:spPr>
          <a:xfrm>
            <a:off x="190500" y="552450"/>
            <a:ext cx="8763000" cy="2857500"/>
          </a:xfrm>
          <a:prstGeom prst="roundRect">
            <a:avLst>
              <a:gd name="adj" fmla="val 4534"/>
            </a:avLst>
          </a:prstGeom>
        </p:spPr>
        <p:style>
          <a:lnRef idx="2">
            <a:schemeClr val="accent1"/>
          </a:lnRef>
          <a:fillRef idx="1">
            <a:schemeClr val="lt1"/>
          </a:fillRef>
          <a:effectRef idx="0">
            <a:schemeClr val="accent1"/>
          </a:effectRef>
          <a:fontRef idx="minor">
            <a:schemeClr val="dk1"/>
          </a:fontRef>
        </p:style>
        <p:txBody>
          <a:bodyPr rtlCol="0" anchor="ctr"/>
          <a:lstStyle/>
          <a:p>
            <a:pPr marL="276225" lvl="0" indent="-276225" algn="just" defTabSz="882650" eaLnBrk="0" fontAlgn="base" hangingPunct="0">
              <a:lnSpc>
                <a:spcPct val="88000"/>
              </a:lnSpc>
              <a:spcBef>
                <a:spcPct val="30000"/>
              </a:spcBef>
              <a:spcAft>
                <a:spcPct val="0"/>
              </a:spcAft>
              <a:buClr>
                <a:schemeClr val="tx1"/>
              </a:buClr>
              <a:buSzPct val="75000"/>
              <a:buFont typeface="Wingdings" pitchFamily="2" charset="2"/>
              <a:buChar char="u"/>
            </a:pPr>
            <a:endParaRPr lang="en-IN" sz="1400" dirty="0"/>
          </a:p>
        </p:txBody>
      </p:sp>
    </p:spTree>
    <p:extLst>
      <p:ext uri="{BB962C8B-B14F-4D97-AF65-F5344CB8AC3E}">
        <p14:creationId xmlns:p14="http://schemas.microsoft.com/office/powerpoint/2010/main" val="2205880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3593</TotalTime>
  <Words>837</Words>
  <Application>Microsoft Office PowerPoint</Application>
  <PresentationFormat>On-screen Show (16:9)</PresentationFormat>
  <Paragraphs>89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Arial MT</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presentation</dc:title>
  <dc:creator>Viswanath</dc:creator>
  <cp:lastModifiedBy>Abdullah F</cp:lastModifiedBy>
  <cp:revision>562</cp:revision>
  <dcterms:created xsi:type="dcterms:W3CDTF">2022-07-05T07:04:29Z</dcterms:created>
  <dcterms:modified xsi:type="dcterms:W3CDTF">2025-12-24T22:03:51Z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2022-07-05T00:00:00Z</vt:filetime>
  </property>
  <property fmtid="{D5CDD505-2E9C-101B-9397-08002B2CF9AE}" pid="3" name="Creator">
    <vt:lpwstr>Microsoft® PowerPoint® 2016</vt:lpwstr>
  </property>
  <property fmtid="{D5CDD505-2E9C-101B-9397-08002B2CF9AE}" pid="4" name="LastSaved">
    <vt:filetime>2022-07-05T00:00:00Z</vt:filetime>
  </property>
</Properties>
</file>